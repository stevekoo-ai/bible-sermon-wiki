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1206400" cy="378012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27" name="Connector 426"/>
          <p:cNvCxnSpPr/>
          <p:nvPr/>
        </p:nvCxnSpPr>
        <p:spPr>
          <a:xfrm>
            <a:off x="45158297" y="2148840"/>
            <a:ext cx="0" cy="25923240"/>
          </a:xfrm>
          <a:prstGeom prst="line">
            <a:avLst/>
          </a:prstGeom>
          <a:ln w="15875">
            <a:solidFill>
              <a:srgbClr val="5CC9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42203478" y="2148840"/>
            <a:ext cx="0" cy="25923240"/>
          </a:xfrm>
          <a:prstGeom prst="line">
            <a:avLst/>
          </a:prstGeom>
          <a:ln w="15875">
            <a:solidFill>
              <a:srgbClr val="F2D1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29247737" y="2148840"/>
            <a:ext cx="0" cy="25923240"/>
          </a:xfrm>
          <a:prstGeom prst="line">
            <a:avLst/>
          </a:prstGeom>
          <a:ln w="15875">
            <a:solidFill>
              <a:srgbClr val="5CC9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24019981" y="2148840"/>
            <a:ext cx="0" cy="25923240"/>
          </a:xfrm>
          <a:prstGeom prst="line">
            <a:avLst/>
          </a:prstGeom>
          <a:ln w="15875">
            <a:solidFill>
              <a:srgbClr val="5CC9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23792688" y="2148840"/>
            <a:ext cx="0" cy="25923240"/>
          </a:xfrm>
          <a:prstGeom prst="line">
            <a:avLst/>
          </a:prstGeom>
          <a:ln w="15875">
            <a:solidFill>
              <a:srgbClr val="A0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3109883" y="2148840"/>
            <a:ext cx="0" cy="25923240"/>
          </a:xfrm>
          <a:prstGeom prst="line">
            <a:avLst/>
          </a:prstGeom>
          <a:ln w="15875">
            <a:solidFill>
              <a:srgbClr val="FF4D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50840640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48567702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46294765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44021828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41748891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39475954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37203017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34930080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32657142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30384205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28111268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25838331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23565394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21292457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9019520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16746582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14473645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2200708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9927771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7654834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5381897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3108960" y="2148840"/>
            <a:ext cx="0" cy="25923240"/>
          </a:xfrm>
          <a:prstGeom prst="line">
            <a:avLst/>
          </a:prstGeom>
          <a:ln w="6350">
            <a:solidFill>
              <a:srgbClr val="4A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274320" y="274320"/>
            <a:ext cx="19659600" cy="914400"/>
          </a:xfrm>
          <a:prstGeom prst="roundRect">
            <a:avLst>
              <a:gd name="adj" fmla="val 20000"/>
            </a:avLst>
          </a:prstGeom>
          <a:solidFill>
            <a:srgbClr val="6B4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9202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포로기와 귀환 — 왕들과 선지자들 (BC 630 – 420)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0" y="320040"/>
            <a:ext cx="30175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마스터 연표(솔로몬 → BC 586) 이어서 · 네모의 왼쪽 변 = 즉위/활동 시작, 오른쪽 변 = 폐위/활동 끝 · 점선 = 연대 추정·논쟁 · ①~⑬ = 아래 카드 번호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99680" y="896112"/>
            <a:ext cx="292608" cy="201168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665439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심판·멸망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21840824" y="896112"/>
            <a:ext cx="292608" cy="201168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06584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귀환·회복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81970" y="896112"/>
            <a:ext cx="292608" cy="201168"/>
          </a:xfrm>
          <a:prstGeom prst="rect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47730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말씀 사건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23115" y="896112"/>
            <a:ext cx="292608" cy="20116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88875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정치 사건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64260" y="896112"/>
            <a:ext cx="292608" cy="201168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30020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선지자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57755" y="896112"/>
            <a:ext cx="292608" cy="201168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23515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말씀 지도자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55745" y="896112"/>
            <a:ext cx="292608" cy="201168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21505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애굽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92395" y="896112"/>
            <a:ext cx="292608" cy="20116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58155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유다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045" y="896112"/>
            <a:ext cx="292608" cy="20116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94805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바벨론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22540" y="896112"/>
            <a:ext cx="292608" cy="201168"/>
          </a:xfrm>
          <a:prstGeom prst="rect">
            <a:avLst/>
          </a:prstGeom>
          <a:solidFill>
            <a:srgbClr val="E0C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88300" y="841247"/>
            <a:ext cx="2286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메대·바사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1508760"/>
            <a:ext cx="2743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630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45428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81897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24697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620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18365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54834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97634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91302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927771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70571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064240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200708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743508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337177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473645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016445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580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610114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746582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6289382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570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883051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9019520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8562320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560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0155988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1292457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835257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550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2428925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565394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3108194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540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4701862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838331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381131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6974800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111268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654068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520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9247737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384205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9927005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510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1520674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657142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2199942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3793611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930080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4472880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490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066548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7203017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6745817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480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8339485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9475954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9018754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470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0612422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748891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1291691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460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2885360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4021828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3564628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450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5158297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6294765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837565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440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7431234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8567702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8110502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430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9704171" y="1892808"/>
            <a:ext cx="0" cy="11887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840640" y="1801368"/>
            <a:ext cx="0" cy="210312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0383440" y="150876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420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108960" y="2011680"/>
            <a:ext cx="47731680" cy="0"/>
          </a:xfrm>
          <a:prstGeom prst="line">
            <a:avLst/>
          </a:prstGeom>
          <a:ln w="190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3108960" y="2148840"/>
            <a:ext cx="10000923" cy="457200"/>
          </a:xfrm>
          <a:prstGeom prst="rect">
            <a:avLst/>
          </a:prstGeom>
          <a:solidFill>
            <a:srgbClr val="3A2222"/>
          </a:solidFill>
          <a:ln w="635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0" y="2148840"/>
            <a:ext cx="9818043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 왕국의 마지막 — 경고의 시대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109883" y="2148840"/>
            <a:ext cx="10910098" cy="457200"/>
          </a:xfrm>
          <a:prstGeom prst="rect">
            <a:avLst/>
          </a:prstGeom>
          <a:solidFill>
            <a:srgbClr val="3A2E1E"/>
          </a:solidFill>
          <a:ln w="635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201323" y="2148840"/>
            <a:ext cx="10727218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포로기 — 바벨론의 70년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019981" y="2148840"/>
            <a:ext cx="5227755" cy="457200"/>
          </a:xfrm>
          <a:prstGeom prst="rect">
            <a:avLst/>
          </a:prstGeom>
          <a:solidFill>
            <a:srgbClr val="1E3326"/>
          </a:solidFill>
          <a:ln w="635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4111421" y="2148840"/>
            <a:ext cx="5044875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귀환 · 성전 재건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247737" y="2148840"/>
            <a:ext cx="12955741" cy="457200"/>
          </a:xfrm>
          <a:prstGeom prst="rect">
            <a:avLst/>
          </a:prstGeom>
          <a:solidFill>
            <a:srgbClr val="2A2A2A"/>
          </a:solidFill>
          <a:ln w="635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339177" y="2148840"/>
            <a:ext cx="12772861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58년의 공백 — 에스더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203478" y="2148840"/>
            <a:ext cx="8637161" cy="457200"/>
          </a:xfrm>
          <a:prstGeom prst="rect">
            <a:avLst/>
          </a:prstGeom>
          <a:solidFill>
            <a:srgbClr val="1E2A3A"/>
          </a:solidFill>
          <a:ln w="635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294918" y="2148840"/>
            <a:ext cx="8454281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말씀과 성벽의 회복 — 에스라 · 느헤미야 · 말라기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28600" y="2743200"/>
            <a:ext cx="2697479" cy="1664208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C9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2743200"/>
            <a:ext cx="2514600" cy="16642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C9A86A"/>
                </a:solidFill>
                <a:latin typeface="맑은 고딕"/>
                <a:ea typeface="맑은 고딕"/>
                <a:cs typeface="맑은 고딕"/>
              </a:rPr>
              <a:t>애굽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바로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108960" y="4443984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7654834" y="2788920"/>
            <a:ext cx="3409405" cy="777240"/>
          </a:xfrm>
          <a:prstGeom prst="rect">
            <a:avLst/>
          </a:prstGeom>
          <a:solidFill>
            <a:srgbClr val="C9A8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46274" y="2816352"/>
            <a:ext cx="3272245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느고 2세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610–595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왕하 23:29-35 · 렘 46:2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064240" y="2788920"/>
            <a:ext cx="1363762" cy="777240"/>
          </a:xfrm>
          <a:prstGeom prst="rect">
            <a:avLst/>
          </a:prstGeom>
          <a:solidFill>
            <a:srgbClr val="C9A8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428002" y="2788920"/>
            <a:ext cx="4318580" cy="777240"/>
          </a:xfrm>
          <a:prstGeom prst="rect">
            <a:avLst/>
          </a:prstGeom>
          <a:solidFill>
            <a:srgbClr val="C9A8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519442" y="2816352"/>
            <a:ext cx="4181420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호브라 (아프리에스)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589–570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렘 37:5 · 44:30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746582" y="2788920"/>
            <a:ext cx="10000923" cy="777240"/>
          </a:xfrm>
          <a:prstGeom prst="rect">
            <a:avLst/>
          </a:prstGeom>
          <a:solidFill>
            <a:srgbClr val="C9A8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6838022" y="2816352"/>
            <a:ext cx="9863763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아마시스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570–526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(성경 언급 없음) · 568 느부갓네살 애굽 침공(렘 43:10-13)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1746121" y="3566160"/>
            <a:ext cx="0" cy="137160"/>
          </a:xfrm>
          <a:prstGeom prst="line">
            <a:avLst/>
          </a:prstGeom>
          <a:ln w="9525">
            <a:solidFill>
              <a:srgbClr val="C9A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0824101" y="3703320"/>
            <a:ext cx="18440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86A"/>
                </a:solidFill>
                <a:latin typeface="맑은 고딕"/>
                <a:ea typeface="맑은 고딕"/>
                <a:cs typeface="맑은 고딕"/>
              </a:rPr>
              <a:t>삼메티쿠스 2세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595–589 · (성경 언급 없음)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8600" y="4480560"/>
            <a:ext cx="2697479" cy="2029968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4F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4480560"/>
            <a:ext cx="2514600" cy="2029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유다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왕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108960" y="6547104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3108960" y="4526280"/>
            <a:ext cx="4773168" cy="777240"/>
          </a:xfrm>
          <a:prstGeom prst="rect">
            <a:avLst/>
          </a:prstGeom>
          <a:solidFill>
            <a:srgbClr val="4FA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00400" y="4553712"/>
            <a:ext cx="4636008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요시야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640–609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왕하 22–23 · 대하 34–35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882128" y="4526280"/>
            <a:ext cx="56823" cy="777240"/>
          </a:xfrm>
          <a:prstGeom prst="rect">
            <a:avLst/>
          </a:prstGeom>
          <a:solidFill>
            <a:srgbClr val="4FA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938951" y="4526280"/>
            <a:ext cx="2443407" cy="777240"/>
          </a:xfrm>
          <a:prstGeom prst="rect">
            <a:avLst/>
          </a:prstGeom>
          <a:solidFill>
            <a:srgbClr val="4FA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030391" y="4553712"/>
            <a:ext cx="2306247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여호야김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609–598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왕하 23:34–24:6 · 렘 36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382358" y="4526280"/>
            <a:ext cx="227293" cy="777240"/>
          </a:xfrm>
          <a:prstGeom prst="rect">
            <a:avLst/>
          </a:prstGeom>
          <a:solidFill>
            <a:srgbClr val="4FA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609652" y="4526280"/>
            <a:ext cx="2500230" cy="777240"/>
          </a:xfrm>
          <a:prstGeom prst="rect">
            <a:avLst/>
          </a:prstGeom>
          <a:solidFill>
            <a:srgbClr val="4FA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701092" y="4553712"/>
            <a:ext cx="2363070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시드기야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597–586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왕하 24:17–25:7 · 렘 37–39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910539" y="5303520"/>
            <a:ext cx="0" cy="137160"/>
          </a:xfrm>
          <a:prstGeom prst="line">
            <a:avLst/>
          </a:prstGeom>
          <a:ln w="9525">
            <a:solidFill>
              <a:srgbClr val="4FA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959944" y="5440680"/>
            <a:ext cx="190119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여호아하스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609 (3개월) · 왕하 23:31-34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0496005" y="5303520"/>
            <a:ext cx="0" cy="137160"/>
          </a:xfrm>
          <a:prstGeom prst="line">
            <a:avLst/>
          </a:prstGeom>
          <a:ln w="9525">
            <a:solidFill>
              <a:srgbClr val="4FA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9415235" y="5440680"/>
            <a:ext cx="21615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여호야긴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598–597 (3개월) · 왕하 24:8-15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09652" y="6126480"/>
            <a:ext cx="8182573" cy="128016"/>
          </a:xfrm>
          <a:prstGeom prst="rect">
            <a:avLst/>
          </a:prstGeom>
          <a:solidFill>
            <a:srgbClr val="2C4A63"/>
          </a:solidFill>
          <a:ln w="9525">
            <a:solidFill>
              <a:srgbClr val="4FA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701092" y="6263640"/>
            <a:ext cx="1828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여호야긴 포로 37년 → 561 석방, 왕의 상에서 먹음 (왕하 25:27-30)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28600" y="6583680"/>
            <a:ext cx="2697479" cy="1664208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8CC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20040" y="6583680"/>
            <a:ext cx="2514600" cy="16642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CC4EC"/>
                </a:solidFill>
                <a:latin typeface="맑은 고딕"/>
                <a:ea typeface="맑은 고딕"/>
                <a:cs typeface="맑은 고딕"/>
              </a:rPr>
              <a:t>유다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총독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108960" y="8284464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3109883" y="6629400"/>
            <a:ext cx="909174" cy="777240"/>
          </a:xfrm>
          <a:prstGeom prst="rect">
            <a:avLst/>
          </a:prstGeom>
          <a:solidFill>
            <a:srgbClr val="4D6B81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4019981" y="6629400"/>
            <a:ext cx="454587" cy="777240"/>
          </a:xfrm>
          <a:prstGeom prst="rect">
            <a:avLst/>
          </a:prstGeom>
          <a:solidFill>
            <a:srgbClr val="4D6B81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4474569" y="6629400"/>
            <a:ext cx="4773167" cy="777240"/>
          </a:xfrm>
          <a:prstGeom prst="rect">
            <a:avLst/>
          </a:prstGeom>
          <a:solidFill>
            <a:srgbClr val="4D6B81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4566009" y="6656832"/>
            <a:ext cx="4636007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스룹바벨 (총독)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538?–515?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 2:2 · 학 1:1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158297" y="6629400"/>
            <a:ext cx="2727524" cy="777240"/>
          </a:xfrm>
          <a:prstGeom prst="rect">
            <a:avLst/>
          </a:prstGeom>
          <a:solidFill>
            <a:srgbClr val="8CC4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5249737" y="6656832"/>
            <a:ext cx="2590364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느헤미야 (총독)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445–433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느 5:14 · 13:6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3564470" y="7406640"/>
            <a:ext cx="0" cy="137160"/>
          </a:xfrm>
          <a:prstGeom prst="line">
            <a:avLst/>
          </a:prstGeom>
          <a:ln w="9525">
            <a:solidFill>
              <a:srgbClr val="8CC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2274150" y="7543800"/>
            <a:ext cx="25806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CC4EC"/>
                </a:solidFill>
                <a:latin typeface="맑은 고딕"/>
                <a:ea typeface="맑은 고딕"/>
                <a:cs typeface="맑은 고딕"/>
              </a:rPr>
              <a:t>그달랴 (총독)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586–582? · 왕하 25:22-25 · 렘 40–41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24247275" y="7406640"/>
            <a:ext cx="0" cy="137160"/>
          </a:xfrm>
          <a:prstGeom prst="line">
            <a:avLst/>
          </a:prstGeom>
          <a:ln w="9525">
            <a:solidFill>
              <a:srgbClr val="8CC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3547505" y="7543800"/>
            <a:ext cx="13995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CC4EC"/>
                </a:solidFill>
                <a:latin typeface="맑은 고딕"/>
                <a:ea typeface="맑은 고딕"/>
                <a:cs typeface="맑은 고딕"/>
              </a:rPr>
              <a:t>세스바살 (총독)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538 · 스 1:8 · 5:14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28600" y="8321040"/>
            <a:ext cx="2697479" cy="2798064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E89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0040" y="8321040"/>
            <a:ext cx="2514600" cy="2798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바벨론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신바벨론 제국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3108960" y="11155680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4018134" y="8366760"/>
            <a:ext cx="4773168" cy="777240"/>
          </a:xfrm>
          <a:prstGeom prst="rect">
            <a:avLst/>
          </a:prstGeom>
          <a:solidFill>
            <a:srgbClr val="E895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09574" y="8394192"/>
            <a:ext cx="4636007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나보폴라살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626–605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(성경 언급 없음) · 612 니느웨 함락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791302" y="8366760"/>
            <a:ext cx="9773629" cy="777240"/>
          </a:xfrm>
          <a:prstGeom prst="rect">
            <a:avLst/>
          </a:prstGeom>
          <a:solidFill>
            <a:srgbClr val="E895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882742" y="8394192"/>
            <a:ext cx="9636469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느부갓네살 2세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605–562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왕하 24–25 · 렘 · 단 1–4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8564932" y="8366760"/>
            <a:ext cx="454587" cy="777240"/>
          </a:xfrm>
          <a:prstGeom prst="rect">
            <a:avLst/>
          </a:prstGeom>
          <a:solidFill>
            <a:srgbClr val="E895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9019520" y="8366760"/>
            <a:ext cx="909174" cy="777240"/>
          </a:xfrm>
          <a:prstGeom prst="rect">
            <a:avLst/>
          </a:prstGeom>
          <a:solidFill>
            <a:srgbClr val="7F5134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9928694" y="8366760"/>
            <a:ext cx="90917" cy="777240"/>
          </a:xfrm>
          <a:prstGeom prst="rect">
            <a:avLst/>
          </a:prstGeom>
          <a:solidFill>
            <a:srgbClr val="E895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0019612" y="8366760"/>
            <a:ext cx="3773075" cy="777240"/>
          </a:xfrm>
          <a:prstGeom prst="rect">
            <a:avLst/>
          </a:prstGeom>
          <a:solidFill>
            <a:srgbClr val="E895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0111052" y="8394192"/>
            <a:ext cx="3635915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나보니두스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556–539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(성경 언급 없음) · 데마에 10년 체류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8792226" y="9144000"/>
            <a:ext cx="0" cy="137160"/>
          </a:xfrm>
          <a:prstGeom prst="line">
            <a:avLst/>
          </a:prstGeom>
          <a:ln w="9525">
            <a:solidFill>
              <a:srgbClr val="E89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7667006" y="9281160"/>
            <a:ext cx="22504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에윌므로닥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562–560 · 왕하 25:27 · 렘 52:31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9474107" y="9144000"/>
            <a:ext cx="0" cy="704088"/>
          </a:xfrm>
          <a:prstGeom prst="line">
            <a:avLst/>
          </a:prstGeom>
          <a:ln w="9525">
            <a:solidFill>
              <a:srgbClr val="E89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8317137" y="9848088"/>
            <a:ext cx="23139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네리글리살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560–556 · 렘 39:3 '네르갈사레셀'?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9974153" y="9144000"/>
            <a:ext cx="0" cy="1271016"/>
          </a:xfrm>
          <a:prstGeom prst="line">
            <a:avLst/>
          </a:prstGeom>
          <a:ln w="9525">
            <a:solidFill>
              <a:srgbClr val="E89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8931483" y="10415016"/>
            <a:ext cx="20853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라바시마르둑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556 (수개월) · (성경 언급 없음)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28600" y="11192256"/>
            <a:ext cx="2697479" cy="1664208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D9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11192256"/>
            <a:ext cx="2514600" cy="16642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D9B07A"/>
                </a:solidFill>
                <a:latin typeface="맑은 고딕"/>
                <a:ea typeface="맑은 고딕"/>
                <a:cs typeface="맑은 고딕"/>
              </a:rPr>
              <a:t>바벨론·메대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공동 통치 · 논쟁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3108960" y="12893040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20610576" y="11237976"/>
            <a:ext cx="3182112" cy="777240"/>
          </a:xfrm>
          <a:prstGeom prst="rect">
            <a:avLst/>
          </a:prstGeom>
          <a:solidFill>
            <a:srgbClr val="776043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0702016" y="11265408"/>
            <a:ext cx="3044952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벨사살 (공동 통치)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c.553–539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 5 · 7:1 · 8:1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3792688" y="11237976"/>
            <a:ext cx="454587" cy="777240"/>
          </a:xfrm>
          <a:prstGeom prst="rect">
            <a:avLst/>
          </a:prstGeom>
          <a:solidFill>
            <a:srgbClr val="776043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24019981" y="12015216"/>
            <a:ext cx="0" cy="137160"/>
          </a:xfrm>
          <a:prstGeom prst="line">
            <a:avLst/>
          </a:prstGeom>
          <a:ln w="9525">
            <a:solidFill>
              <a:srgbClr val="D9B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22678861" y="12152376"/>
            <a:ext cx="2682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B07A"/>
                </a:solidFill>
                <a:latin typeface="맑은 고딕"/>
                <a:ea typeface="맑은 고딕"/>
                <a:cs typeface="맑은 고딕"/>
              </a:rPr>
              <a:t>메대 다리오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539–? · 단 5:31 · 6 · 9:1 — 정체 논쟁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228600" y="12929616"/>
            <a:ext cx="2697479" cy="2231136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E0C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20040" y="12929616"/>
            <a:ext cx="2514600" cy="2231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0C04F"/>
                </a:solidFill>
                <a:latin typeface="맑은 고딕"/>
                <a:ea typeface="맑은 고딕"/>
                <a:cs typeface="맑은 고딕"/>
              </a:rPr>
              <a:t>메대·바사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아케메네스 제국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3108960" y="15197328"/>
            <a:ext cx="4773168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19246813" y="12975336"/>
            <a:ext cx="6591517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9338253" y="13002768"/>
            <a:ext cx="6454357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고레스 2세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559–530 (539 바벨론 정복)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대하 36:22-23 · 스 1 · 사 44:28; 45:1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5838331" y="12975336"/>
            <a:ext cx="1818349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656681" y="12975336"/>
            <a:ext cx="90917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747598" y="12975336"/>
            <a:ext cx="8091656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7839038" y="13002768"/>
            <a:ext cx="7954496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다리오 1세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522–486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스 4:24–6:15 · 학 1:1 · 슥 1:1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5839254" y="12975336"/>
            <a:ext cx="4773168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5930694" y="13002768"/>
            <a:ext cx="4636008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크세르크세스 1세 = 아하수에로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486–465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에 1–10 · 스 4:6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0612422" y="12975336"/>
            <a:ext cx="9319042" cy="777240"/>
          </a:xfrm>
          <a:prstGeom prst="rect">
            <a:avLst/>
          </a:prstGeom>
          <a:solidFill>
            <a:srgbClr val="E0C0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0703862" y="13002768"/>
            <a:ext cx="9181882" cy="731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아닥사스다 1세</a:t>
            </a:r>
          </a:p>
          <a:p>
            <a:pPr algn="l"/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465–424</a:t>
            </a:r>
          </a:p>
          <a:p>
            <a:pPr algn="l"/>
            <a:r>
              <a:rPr sz="10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스 4:7-23 · 7–8 · 느 2 · 13:6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0158758" y="12975336"/>
            <a:ext cx="681881" cy="777240"/>
          </a:xfrm>
          <a:prstGeom prst="rect">
            <a:avLst/>
          </a:prstGeom>
          <a:solidFill>
            <a:srgbClr val="7B692B"/>
          </a:solidFill>
          <a:ln w="1270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26747506" y="13752576"/>
            <a:ext cx="0" cy="137160"/>
          </a:xfrm>
          <a:prstGeom prst="line">
            <a:avLst/>
          </a:prstGeom>
          <a:ln w="9525">
            <a:solidFill>
              <a:srgbClr val="E0C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5304786" y="13889736"/>
            <a:ext cx="28854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C04F"/>
                </a:solidFill>
                <a:latin typeface="맑은 고딕"/>
                <a:ea typeface="맑은 고딕"/>
                <a:cs typeface="맑은 고딕"/>
              </a:rPr>
              <a:t>캄비세스 2세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530–522 · (성경 언급 없음) · 525 애굽 정복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7702139" y="13752576"/>
            <a:ext cx="0" cy="704088"/>
          </a:xfrm>
          <a:prstGeom prst="line">
            <a:avLst/>
          </a:prstGeom>
          <a:ln w="9525">
            <a:solidFill>
              <a:srgbClr val="E0C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26659469" y="14456664"/>
            <a:ext cx="20853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C04F"/>
                </a:solidFill>
                <a:latin typeface="맑은 고딕"/>
                <a:ea typeface="맑은 고딕"/>
                <a:cs typeface="맑은 고딕"/>
              </a:rPr>
              <a:t>바르디야(스메르디스)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522 (수개월) · (성경 언급 없음)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0499699" y="13752576"/>
            <a:ext cx="0" cy="137160"/>
          </a:xfrm>
          <a:prstGeom prst="line">
            <a:avLst/>
          </a:prstGeom>
          <a:ln w="9525">
            <a:solidFill>
              <a:srgbClr val="E0C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49549104" y="13889736"/>
            <a:ext cx="190119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C04F"/>
                </a:solidFill>
                <a:latin typeface="맑은 고딕"/>
                <a:ea typeface="맑은 고딕"/>
                <a:cs typeface="맑은 고딕"/>
              </a:rPr>
              <a:t>다리오 2세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423–404 · 느 12:22? (논쟁)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8791302" y="15416784"/>
            <a:ext cx="0" cy="27432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4019981" y="15416784"/>
            <a:ext cx="0" cy="27432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791302" y="15553944"/>
            <a:ext cx="15228679" cy="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24202861" y="15371064"/>
            <a:ext cx="228600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약 70년 ① — 바벨론을 섬김 (605 → 539/538)  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렘 25:11-12 · 29:10 · 대하 36:21 · 단 9:2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13109883" y="15919704"/>
            <a:ext cx="0" cy="27432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29247737" y="15919704"/>
            <a:ext cx="0" cy="27432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3109883" y="16056864"/>
            <a:ext cx="16137854" cy="0"/>
          </a:xfrm>
          <a:prstGeom prst="line">
            <a:avLst/>
          </a:prstGeom>
          <a:ln w="25400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29430617" y="15873984"/>
            <a:ext cx="228600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약 70년 ② — 성전의 황폐 (586 → 515)  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슥 1:12 '칠십 년 동안 노하셨나이다' · 슥 7:5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28600" y="15325344"/>
            <a:ext cx="2697479" cy="96012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20040" y="15325344"/>
            <a:ext cx="2514600" cy="960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70년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두 가지 계산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28600" y="16468344"/>
            <a:ext cx="2697479" cy="2679192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20040" y="16468344"/>
            <a:ext cx="2514600" cy="2679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사건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▼ = 연도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3108960" y="16696944"/>
            <a:ext cx="4773168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24474569" y="16614648"/>
            <a:ext cx="3636699" cy="164592"/>
          </a:xfrm>
          <a:prstGeom prst="rect">
            <a:avLst/>
          </a:prstGeom>
          <a:solidFill>
            <a:srgbClr val="5A2020"/>
          </a:solidFill>
          <a:ln w="9525">
            <a:solidFill>
              <a:srgbClr val="FF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3790841" y="16696944"/>
            <a:ext cx="0" cy="228600"/>
          </a:xfrm>
          <a:prstGeom prst="line">
            <a:avLst/>
          </a:prstGeom>
          <a:ln w="9525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Merge 204"/>
          <p:cNvSpPr/>
          <p:nvPr/>
        </p:nvSpPr>
        <p:spPr>
          <a:xfrm>
            <a:off x="3671969" y="16514064"/>
            <a:ext cx="237744" cy="201168"/>
          </a:xfrm>
          <a:prstGeom prst="flowChartMerge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4927309" y="16696944"/>
            <a:ext cx="0" cy="795528"/>
          </a:xfrm>
          <a:prstGeom prst="line">
            <a:avLst/>
          </a:prstGeom>
          <a:ln w="9525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Merge 206"/>
          <p:cNvSpPr/>
          <p:nvPr/>
        </p:nvSpPr>
        <p:spPr>
          <a:xfrm>
            <a:off x="4808437" y="16514064"/>
            <a:ext cx="237744" cy="201168"/>
          </a:xfrm>
          <a:prstGeom prst="flowChartMerge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7200246" y="16696944"/>
            <a:ext cx="0" cy="2286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Merge 208"/>
          <p:cNvSpPr/>
          <p:nvPr/>
        </p:nvSpPr>
        <p:spPr>
          <a:xfrm>
            <a:off x="7081374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7882128" y="16696944"/>
            <a:ext cx="0" cy="1362456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Merge 210"/>
          <p:cNvSpPr/>
          <p:nvPr/>
        </p:nvSpPr>
        <p:spPr>
          <a:xfrm>
            <a:off x="7763256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>
            <a:off x="8791302" y="16696944"/>
            <a:ext cx="0" cy="795528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Merge 212"/>
          <p:cNvSpPr/>
          <p:nvPr/>
        </p:nvSpPr>
        <p:spPr>
          <a:xfrm>
            <a:off x="8672430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10609652" y="16696944"/>
            <a:ext cx="0" cy="228600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Merge 214"/>
          <p:cNvSpPr/>
          <p:nvPr/>
        </p:nvSpPr>
        <p:spPr>
          <a:xfrm>
            <a:off x="10490780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12655296" y="16696944"/>
            <a:ext cx="0" cy="795528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Merge 216"/>
          <p:cNvSpPr/>
          <p:nvPr/>
        </p:nvSpPr>
        <p:spPr>
          <a:xfrm>
            <a:off x="12536424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13109883" y="16696944"/>
            <a:ext cx="0" cy="1362456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Merge 218"/>
          <p:cNvSpPr/>
          <p:nvPr/>
        </p:nvSpPr>
        <p:spPr>
          <a:xfrm>
            <a:off x="12991011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14019058" y="16696944"/>
            <a:ext cx="0" cy="228600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Merge 220"/>
          <p:cNvSpPr/>
          <p:nvPr/>
        </p:nvSpPr>
        <p:spPr>
          <a:xfrm>
            <a:off x="13900186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17201170" y="16696944"/>
            <a:ext cx="0" cy="2286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Merge 222"/>
          <p:cNvSpPr/>
          <p:nvPr/>
        </p:nvSpPr>
        <p:spPr>
          <a:xfrm>
            <a:off x="17082298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18792226" y="16696944"/>
            <a:ext cx="0" cy="795528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Merge 224"/>
          <p:cNvSpPr/>
          <p:nvPr/>
        </p:nvSpPr>
        <p:spPr>
          <a:xfrm>
            <a:off x="18673354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23792688" y="16696944"/>
            <a:ext cx="0" cy="2286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Merge 226"/>
          <p:cNvSpPr/>
          <p:nvPr/>
        </p:nvSpPr>
        <p:spPr>
          <a:xfrm>
            <a:off x="23673816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>
            <a:off x="24019981" y="16696944"/>
            <a:ext cx="0" cy="795528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Merge 228"/>
          <p:cNvSpPr/>
          <p:nvPr/>
        </p:nvSpPr>
        <p:spPr>
          <a:xfrm>
            <a:off x="23901109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24474569" y="16696944"/>
            <a:ext cx="0" cy="1362456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Merge 230"/>
          <p:cNvSpPr/>
          <p:nvPr/>
        </p:nvSpPr>
        <p:spPr>
          <a:xfrm>
            <a:off x="24355697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25838331" y="16696944"/>
            <a:ext cx="0" cy="1929384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Merge 232"/>
          <p:cNvSpPr/>
          <p:nvPr/>
        </p:nvSpPr>
        <p:spPr>
          <a:xfrm>
            <a:off x="25719459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>
            <a:off x="26974800" y="16696944"/>
            <a:ext cx="0" cy="2286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Merge 234"/>
          <p:cNvSpPr/>
          <p:nvPr/>
        </p:nvSpPr>
        <p:spPr>
          <a:xfrm>
            <a:off x="26855928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>
            <a:off x="28111268" y="16696944"/>
            <a:ext cx="0" cy="795528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Merge 236"/>
          <p:cNvSpPr/>
          <p:nvPr/>
        </p:nvSpPr>
        <p:spPr>
          <a:xfrm>
            <a:off x="27992396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29247737" y="16696944"/>
            <a:ext cx="0" cy="228600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Merge 238"/>
          <p:cNvSpPr/>
          <p:nvPr/>
        </p:nvSpPr>
        <p:spPr>
          <a:xfrm>
            <a:off x="29128865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36521136" y="16696944"/>
            <a:ext cx="0" cy="2286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Merge 240"/>
          <p:cNvSpPr/>
          <p:nvPr/>
        </p:nvSpPr>
        <p:spPr>
          <a:xfrm>
            <a:off x="36402263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37430310" y="16696944"/>
            <a:ext cx="0" cy="795528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Merge 242"/>
          <p:cNvSpPr/>
          <p:nvPr/>
        </p:nvSpPr>
        <p:spPr>
          <a:xfrm>
            <a:off x="37311438" y="16514064"/>
            <a:ext cx="237744" cy="201168"/>
          </a:xfrm>
          <a:prstGeom prst="flowChartMerg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38566779" y="16696944"/>
            <a:ext cx="0" cy="228600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Merge 244"/>
          <p:cNvSpPr/>
          <p:nvPr/>
        </p:nvSpPr>
        <p:spPr>
          <a:xfrm>
            <a:off x="38447907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43567241" y="16696944"/>
            <a:ext cx="0" cy="795528"/>
          </a:xfrm>
          <a:prstGeom prst="line">
            <a:avLst/>
          </a:prstGeom>
          <a:ln w="9525">
            <a:solidFill>
              <a:srgbClr val="FF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Merge 246"/>
          <p:cNvSpPr/>
          <p:nvPr/>
        </p:nvSpPr>
        <p:spPr>
          <a:xfrm>
            <a:off x="43448369" y="16514064"/>
            <a:ext cx="237744" cy="201168"/>
          </a:xfrm>
          <a:prstGeom prst="flowChartMerg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>
            <a:off x="42203478" y="16696944"/>
            <a:ext cx="0" cy="228600"/>
          </a:xfrm>
          <a:prstGeom prst="line">
            <a:avLst/>
          </a:prstGeom>
          <a:ln w="9525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Merge 248"/>
          <p:cNvSpPr/>
          <p:nvPr/>
        </p:nvSpPr>
        <p:spPr>
          <a:xfrm>
            <a:off x="42084606" y="16514064"/>
            <a:ext cx="237744" cy="201168"/>
          </a:xfrm>
          <a:prstGeom prst="flowChartMerge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45158297" y="16696944"/>
            <a:ext cx="0" cy="1362456"/>
          </a:xfrm>
          <a:prstGeom prst="line">
            <a:avLst/>
          </a:prstGeom>
          <a:ln w="9525">
            <a:solidFill>
              <a:srgbClr val="5CC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Merge 250"/>
          <p:cNvSpPr/>
          <p:nvPr/>
        </p:nvSpPr>
        <p:spPr>
          <a:xfrm>
            <a:off x="45039425" y="16514064"/>
            <a:ext cx="237744" cy="201168"/>
          </a:xfrm>
          <a:prstGeom prst="flowChartMerg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45271944" y="16696944"/>
            <a:ext cx="0" cy="1929384"/>
          </a:xfrm>
          <a:prstGeom prst="line">
            <a:avLst/>
          </a:prstGeom>
          <a:ln w="9525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Merge 252"/>
          <p:cNvSpPr/>
          <p:nvPr/>
        </p:nvSpPr>
        <p:spPr>
          <a:xfrm>
            <a:off x="45153071" y="16514064"/>
            <a:ext cx="237744" cy="201168"/>
          </a:xfrm>
          <a:prstGeom prst="flowChartMerge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47885821" y="16696944"/>
            <a:ext cx="0" cy="228600"/>
          </a:xfrm>
          <a:prstGeom prst="line">
            <a:avLst/>
          </a:prstGeom>
          <a:ln w="9525">
            <a:solidFill>
              <a:srgbClr val="F2D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Merge 254"/>
          <p:cNvSpPr/>
          <p:nvPr/>
        </p:nvSpPr>
        <p:spPr>
          <a:xfrm>
            <a:off x="47766949" y="16514064"/>
            <a:ext cx="237744" cy="201168"/>
          </a:xfrm>
          <a:prstGeom prst="flowChartMerge">
            <a:avLst/>
          </a:prstGeom>
          <a:solidFill>
            <a:srgbClr val="F2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745121" y="16879824"/>
            <a:ext cx="226314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예레미야 소명 (요시야 13년)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627 · 렘 1:2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881589" y="17446752"/>
            <a:ext cx="329946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율법책 발견 · 요시야 개혁 · 여선지자 훌다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622 · 왕하 22:8, 14 · 23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154526" y="16879824"/>
            <a:ext cx="238506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니느웨 함락 — 나훔 예언 성취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612 · 나 3:7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836408" y="18013680"/>
            <a:ext cx="155448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요시야 므깃도 전사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609 · 왕하 23:29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745582" y="17446752"/>
            <a:ext cx="272034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갈그미스 전투 · 1차 포로 (다니엘)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605 · 렘 46:2 · 단 1:1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563932" y="16879824"/>
            <a:ext cx="297180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2차 포로: 여호야긴 · 에스겔 · 1만 명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597 · 왕하 24:14 · 겔 1:2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2609576" y="17446752"/>
            <a:ext cx="226314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예루살렘 포위 시작 (18개월)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588 · 왕하 25:1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3064163" y="18013680"/>
            <a:ext cx="321691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성전·성벽 불탐 · 대제사장 스라야 처형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586 · 왕하 25:9, 18-21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3973338" y="16879824"/>
            <a:ext cx="235458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3차 포로 745명 (합계 4,600)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582 · 렘 52:30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7155450" y="16879824"/>
            <a:ext cx="235585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느부갓네살 애굽 침공 (추정)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568 · 렘 43:10-13 · 겔 29:19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8746506" y="17446752"/>
            <a:ext cx="151765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여호야긴 석방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561 · 왕하 25:27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3746968" y="16879824"/>
            <a:ext cx="2878455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바벨론 함락 — 벨사살의 마지막 밤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539 · 단 5:30-31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3974261" y="17446752"/>
            <a:ext cx="282067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고레스 칙령 · 1차 귀환 42,360명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538 · 대하 36:22-23 · 스 1–2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4428849" y="18013680"/>
            <a:ext cx="201168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성전 기초 — 울음과 기쁨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536 · 스 3:8-13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5792611" y="18580608"/>
            <a:ext cx="249936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공사 중단 (536→520, 약 16년)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530 · 스 4:1-5, 24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929080" y="16879824"/>
            <a:ext cx="1638299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캄비세스, 애굽 정복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525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8065548" y="17446752"/>
            <a:ext cx="228600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공사 재개 — 학개 · 스가랴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520 · 스 5:1-2 · 학 1:14-15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9202017" y="16879824"/>
            <a:ext cx="301879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제2성전 완공 · 유월절 (다리오 6년)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515 · 스 6:15-22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6475416" y="16879824"/>
            <a:ext cx="195072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아하수에로의 잔치 (3년)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483 · 에 1:3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7384590" y="17446752"/>
            <a:ext cx="153670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에스더 왕후 (7년)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479 · 에 2:16-17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8521059" y="16879824"/>
            <a:ext cx="234696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하만의 조서 → 부림절 (12년)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474 · 에 3:7 · 9:17-26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3521521" y="17446752"/>
            <a:ext cx="255270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성벽 공사 중지 조서 (연대 추정)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452 · 스 4:7-23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2157758" y="16879824"/>
            <a:ext cx="3241675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에스라 귀환 (4개월 여정) → 통혼 회개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458 · 스 7:7-9 · 9–10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5112577" y="18013680"/>
            <a:ext cx="227584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느헤미야 귀환 · 성벽 52일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445 · 느 2:1 · 6:15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5226224" y="18580608"/>
            <a:ext cx="217932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수문 앞 율법 낭독 · 초막절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445 · 느 8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7840101" y="16879824"/>
            <a:ext cx="2842260" cy="512064"/>
          </a:xfrm>
          <a:prstGeom prst="rect">
            <a:avLst/>
          </a:prstGeom>
          <a:solidFill>
            <a:srgbClr val="141414"/>
          </a:solidFill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느헤미야 바사 복귀 → 재귀환 · 개혁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BC 433 · 느 13:6-7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228600" y="19376136"/>
            <a:ext cx="2697479" cy="373075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 w="15875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320040" y="19376136"/>
            <a:ext cx="2514600" cy="3730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선지자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활동 기간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228600" y="23198328"/>
            <a:ext cx="2697479" cy="3730752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 w="15875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320040" y="23198328"/>
            <a:ext cx="2514600" cy="3730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말씀 지도자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귀환·재건 인물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3108960" y="20007072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ounded Rectangle 286"/>
          <p:cNvSpPr/>
          <p:nvPr/>
        </p:nvSpPr>
        <p:spPr>
          <a:xfrm>
            <a:off x="3790841" y="19522440"/>
            <a:ext cx="9319042" cy="402336"/>
          </a:xfrm>
          <a:prstGeom prst="roundRect">
            <a:avLst>
              <a:gd name="adj" fmla="val 25000"/>
            </a:avLst>
          </a:prstGeom>
          <a:solidFill>
            <a:srgbClr val="C78BE8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13109883" y="19522440"/>
            <a:ext cx="1363762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3900569" y="19467576"/>
            <a:ext cx="9319042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① 예레미야</a:t>
            </a:r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627–586 → 애굽(580?)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3108960" y="20574000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Rounded Rectangle 290"/>
          <p:cNvSpPr/>
          <p:nvPr/>
        </p:nvSpPr>
        <p:spPr>
          <a:xfrm>
            <a:off x="3108960" y="20089368"/>
            <a:ext cx="1818349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5064469" y="20034504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② 스바냐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요시야 시대 (개혁 전?)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3108960" y="21140928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ounded Rectangle 293"/>
          <p:cNvSpPr/>
          <p:nvPr/>
        </p:nvSpPr>
        <p:spPr>
          <a:xfrm>
            <a:off x="8109421" y="20656296"/>
            <a:ext cx="2272937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0519518" y="20601432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③ 하박국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c.608–598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3108960" y="21707856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Rounded Rectangle 296"/>
          <p:cNvSpPr/>
          <p:nvPr/>
        </p:nvSpPr>
        <p:spPr>
          <a:xfrm>
            <a:off x="8791302" y="21223224"/>
            <a:ext cx="15683266" cy="402336"/>
          </a:xfrm>
          <a:prstGeom prst="roundRect">
            <a:avLst>
              <a:gd name="adj" fmla="val 25000"/>
            </a:avLst>
          </a:prstGeom>
          <a:solidFill>
            <a:srgbClr val="C78BE8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8901030" y="21168360"/>
            <a:ext cx="15683266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④ 다니엘</a:t>
            </a:r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605–536 (70년 전체)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3108960" y="22274784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Rounded Rectangle 299"/>
          <p:cNvSpPr/>
          <p:nvPr/>
        </p:nvSpPr>
        <p:spPr>
          <a:xfrm>
            <a:off x="11518827" y="21790152"/>
            <a:ext cx="5000461" cy="402336"/>
          </a:xfrm>
          <a:prstGeom prst="roundRect">
            <a:avLst>
              <a:gd name="adj" fmla="val 25000"/>
            </a:avLst>
          </a:prstGeom>
          <a:solidFill>
            <a:srgbClr val="C78BE8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1628555" y="21735288"/>
            <a:ext cx="5000461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⑤ 에스겔</a:t>
            </a:r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593–571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3108960" y="22841712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ounded Rectangle 302"/>
          <p:cNvSpPr/>
          <p:nvPr/>
        </p:nvSpPr>
        <p:spPr>
          <a:xfrm>
            <a:off x="13109883" y="22357080"/>
            <a:ext cx="8182573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1429617" y="22302216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⑥ 오바댜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연대 미상 (586 이후?)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3108960" y="23408640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Rounded Rectangle 305"/>
          <p:cNvSpPr/>
          <p:nvPr/>
        </p:nvSpPr>
        <p:spPr>
          <a:xfrm>
            <a:off x="28111268" y="22924008"/>
            <a:ext cx="164592" cy="402336"/>
          </a:xfrm>
          <a:prstGeom prst="roundRect">
            <a:avLst>
              <a:gd name="adj" fmla="val 25000"/>
            </a:avLst>
          </a:prstGeom>
          <a:solidFill>
            <a:srgbClr val="C78BE8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28339346" y="22869144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⑦ 학개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520 · 4개월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3108960" y="23975568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ounded Rectangle 308"/>
          <p:cNvSpPr/>
          <p:nvPr/>
        </p:nvSpPr>
        <p:spPr>
          <a:xfrm>
            <a:off x="28111268" y="23490936"/>
            <a:ext cx="454587" cy="402336"/>
          </a:xfrm>
          <a:prstGeom prst="roundRect">
            <a:avLst>
              <a:gd name="adj" fmla="val 25000"/>
            </a:avLst>
          </a:prstGeom>
          <a:solidFill>
            <a:srgbClr val="C78BE8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28565856" y="23490936"/>
            <a:ext cx="8637161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37340177" y="23436072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⑧ 스가랴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520–518 (+9–14장 연대 미상)</a:t>
            </a:r>
          </a:p>
        </p:txBody>
      </p:sp>
      <p:cxnSp>
        <p:nvCxnSpPr>
          <p:cNvPr id="312" name="Connector 311"/>
          <p:cNvCxnSpPr/>
          <p:nvPr/>
        </p:nvCxnSpPr>
        <p:spPr>
          <a:xfrm>
            <a:off x="3108960" y="24542496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Rounded Rectangle 312"/>
          <p:cNvSpPr/>
          <p:nvPr/>
        </p:nvSpPr>
        <p:spPr>
          <a:xfrm>
            <a:off x="41748891" y="24057864"/>
            <a:ext cx="6818811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48704862" y="24003000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⑨ 말라기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c.460–430 (추정)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3108960" y="25109424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Rounded Rectangle 315"/>
          <p:cNvSpPr/>
          <p:nvPr/>
        </p:nvSpPr>
        <p:spPr>
          <a:xfrm>
            <a:off x="24019981" y="24624792"/>
            <a:ext cx="5227755" cy="402336"/>
          </a:xfrm>
          <a:prstGeom prst="roundRect">
            <a:avLst>
              <a:gd name="adj" fmla="val 25000"/>
            </a:avLst>
          </a:prstGeom>
          <a:solidFill>
            <a:srgbClr val="5CC98A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24129709" y="24569928"/>
            <a:ext cx="5227755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⑩ 세스바살 · 스룹바벨 · 여호수아</a:t>
            </a:r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538–515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3108960" y="25676352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ounded Rectangle 318"/>
          <p:cNvSpPr/>
          <p:nvPr/>
        </p:nvSpPr>
        <p:spPr>
          <a:xfrm>
            <a:off x="36521136" y="25191720"/>
            <a:ext cx="2272937" cy="402336"/>
          </a:xfrm>
          <a:prstGeom prst="roundRect">
            <a:avLst>
              <a:gd name="adj" fmla="val 25000"/>
            </a:avLst>
          </a:prstGeom>
          <a:solidFill>
            <a:srgbClr val="5CC98A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38931233" y="25136856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⑪ 에스더 · 모르드개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483–473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3108960" y="26243280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ounded Rectangle 321"/>
          <p:cNvSpPr/>
          <p:nvPr/>
        </p:nvSpPr>
        <p:spPr>
          <a:xfrm>
            <a:off x="42203478" y="25758648"/>
            <a:ext cx="4091286" cy="402336"/>
          </a:xfrm>
          <a:prstGeom prst="roundRect">
            <a:avLst>
              <a:gd name="adj" fmla="val 25000"/>
            </a:avLst>
          </a:prstGeom>
          <a:solidFill>
            <a:srgbClr val="5CC98A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42313206" y="25703784"/>
            <a:ext cx="4091286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⑫ 에스라</a:t>
            </a:r>
            <a:r>
              <a:rPr sz="11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458–440?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3108960" y="26810208"/>
            <a:ext cx="47731680" cy="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/>
          <p:cNvSpPr/>
          <p:nvPr/>
        </p:nvSpPr>
        <p:spPr>
          <a:xfrm>
            <a:off x="45158297" y="26325576"/>
            <a:ext cx="2727524" cy="402336"/>
          </a:xfrm>
          <a:prstGeom prst="roundRect">
            <a:avLst>
              <a:gd name="adj" fmla="val 25000"/>
            </a:avLst>
          </a:prstGeom>
          <a:solidFill>
            <a:srgbClr val="5CC98A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47885821" y="26325576"/>
            <a:ext cx="1136468" cy="402336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9159450" y="26270712"/>
            <a:ext cx="1280160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⑬ 느헤미야</a:t>
            </a:r>
            <a:r>
              <a:rPr sz="11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445–433 → 재귀환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228600" y="27066240"/>
            <a:ext cx="2697479" cy="123444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5875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320040" y="27066240"/>
            <a:ext cx="2514600" cy="1234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9EC4"/>
                </a:solidFill>
                <a:latin typeface="맑은 고딕"/>
                <a:ea typeface="맑은 고딕"/>
                <a:cs typeface="맑은 고딕"/>
              </a:rPr>
              <a:t>하나님의 마음</a:t>
            </a:r>
          </a:p>
          <a:p>
            <a:pPr algn="l"/>
            <a:r>
              <a:rPr sz="10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시대마다</a:t>
            </a:r>
          </a:p>
        </p:txBody>
      </p:sp>
      <p:sp>
        <p:nvSpPr>
          <p:cNvPr id="330" name="Pentagon 329"/>
          <p:cNvSpPr/>
          <p:nvPr/>
        </p:nvSpPr>
        <p:spPr>
          <a:xfrm>
            <a:off x="3108960" y="27066240"/>
            <a:ext cx="10229523" cy="914400"/>
          </a:xfrm>
          <a:prstGeom prst="homePlate">
            <a:avLst/>
          </a:prstGeom>
          <a:solidFill>
            <a:srgbClr val="5A2A2A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3291840" y="27111960"/>
            <a:ext cx="9635163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경고 — "돌아오라"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선지자를 끝까지 보내심</a:t>
            </a:r>
          </a:p>
        </p:txBody>
      </p:sp>
      <p:sp>
        <p:nvSpPr>
          <p:cNvPr id="332" name="Chevron 331"/>
          <p:cNvSpPr/>
          <p:nvPr/>
        </p:nvSpPr>
        <p:spPr>
          <a:xfrm>
            <a:off x="13109883" y="27066240"/>
            <a:ext cx="11138698" cy="914400"/>
          </a:xfrm>
          <a:prstGeom prst="chevron">
            <a:avLst/>
          </a:prstGeom>
          <a:solidFill>
            <a:srgbClr val="5A4426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3567083" y="27111960"/>
            <a:ext cx="10544338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징계 — 그러나 70년 약속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본심이 아니시로다 (애 3:33)</a:t>
            </a:r>
          </a:p>
        </p:txBody>
      </p:sp>
      <p:sp>
        <p:nvSpPr>
          <p:cNvPr id="334" name="Chevron 333"/>
          <p:cNvSpPr/>
          <p:nvPr/>
        </p:nvSpPr>
        <p:spPr>
          <a:xfrm>
            <a:off x="24019981" y="27066240"/>
            <a:ext cx="4319886" cy="914400"/>
          </a:xfrm>
          <a:prstGeom prst="chevron">
            <a:avLst/>
          </a:prstGeom>
          <a:solidFill>
            <a:srgbClr val="2A5A3A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24477181" y="27111960"/>
            <a:ext cx="3725526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귀환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제단과 기초</a:t>
            </a:r>
          </a:p>
        </p:txBody>
      </p:sp>
      <p:sp>
        <p:nvSpPr>
          <p:cNvPr id="336" name="Chevron 335"/>
          <p:cNvSpPr/>
          <p:nvPr/>
        </p:nvSpPr>
        <p:spPr>
          <a:xfrm>
            <a:off x="28111268" y="27066240"/>
            <a:ext cx="1365068" cy="914400"/>
          </a:xfrm>
          <a:prstGeom prst="chevron">
            <a:avLst/>
          </a:prstGeom>
          <a:solidFill>
            <a:srgbClr val="2F6B45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28568468" y="27111960"/>
            <a:ext cx="7707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예배 회복</a:t>
            </a:r>
          </a:p>
          <a:p>
            <a:pPr algn="l"/>
            <a:r>
              <a:rPr sz="9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성전 완공</a:t>
            </a:r>
          </a:p>
        </p:txBody>
      </p:sp>
      <p:sp>
        <p:nvSpPr>
          <p:cNvPr id="338" name="Chevron 337"/>
          <p:cNvSpPr/>
          <p:nvPr/>
        </p:nvSpPr>
        <p:spPr>
          <a:xfrm>
            <a:off x="29247737" y="27066240"/>
            <a:ext cx="13184341" cy="914400"/>
          </a:xfrm>
          <a:prstGeom prst="chevron">
            <a:avLst/>
          </a:prstGeom>
          <a:solidFill>
            <a:srgbClr val="3A3A3A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29704937" y="27111960"/>
            <a:ext cx="12589981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숨은 섭리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에스더 — 이름 없이 지키심</a:t>
            </a:r>
          </a:p>
        </p:txBody>
      </p:sp>
      <p:sp>
        <p:nvSpPr>
          <p:cNvPr id="340" name="Chevron 339"/>
          <p:cNvSpPr/>
          <p:nvPr/>
        </p:nvSpPr>
        <p:spPr>
          <a:xfrm>
            <a:off x="42203478" y="27066240"/>
            <a:ext cx="3183418" cy="914400"/>
          </a:xfrm>
          <a:prstGeom prst="chevron">
            <a:avLst/>
          </a:prstGeom>
          <a:solidFill>
            <a:srgbClr val="6B5A20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42660678" y="27111960"/>
            <a:ext cx="2589058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말씀 회복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에스라</a:t>
            </a:r>
          </a:p>
        </p:txBody>
      </p:sp>
      <p:sp>
        <p:nvSpPr>
          <p:cNvPr id="342" name="Chevron 341"/>
          <p:cNvSpPr/>
          <p:nvPr/>
        </p:nvSpPr>
        <p:spPr>
          <a:xfrm>
            <a:off x="45158297" y="27066240"/>
            <a:ext cx="3638005" cy="914400"/>
          </a:xfrm>
          <a:prstGeom prst="chevron">
            <a:avLst/>
          </a:prstGeom>
          <a:solidFill>
            <a:srgbClr val="2A4A6B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45615497" y="27111960"/>
            <a:ext cx="3043645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공동체 회복</a:t>
            </a:r>
          </a:p>
          <a:p>
            <a:pPr algn="l"/>
            <a:r>
              <a:rPr sz="11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느헤미야</a:t>
            </a:r>
          </a:p>
        </p:txBody>
      </p:sp>
      <p:sp>
        <p:nvSpPr>
          <p:cNvPr id="344" name="Chevron 343"/>
          <p:cNvSpPr/>
          <p:nvPr/>
        </p:nvSpPr>
        <p:spPr>
          <a:xfrm>
            <a:off x="48567702" y="27066240"/>
            <a:ext cx="2501537" cy="914400"/>
          </a:xfrm>
          <a:prstGeom prst="chevron">
            <a:avLst/>
          </a:prstGeom>
          <a:solidFill>
            <a:srgbClr val="6B2A55"/>
          </a:solidFill>
          <a:ln w="12700">
            <a:solidFill>
              <a:srgbClr val="FF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49024902" y="27111960"/>
            <a:ext cx="190717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메시아 대망</a:t>
            </a:r>
          </a:p>
          <a:p>
            <a:pPr algn="l"/>
            <a:r>
              <a:rPr sz="9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말라기 → 400년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3108960" y="28026360"/>
            <a:ext cx="4773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D6E8"/>
                </a:solidFill>
                <a:latin typeface="맑은 고딕"/>
                <a:ea typeface="맑은 고딕"/>
                <a:cs typeface="맑은 고딕"/>
              </a:rPr>
              <a:t>징계 → 귀환 → 예배 회복 → (숨은 섭리) → 말씀 회복 → 공동체 회복 → 메시아 대망  ·  "내가 너희와 함께 하노라"(학 1:13)  ·  "내게로 돌아오라 그리하면 내가 너희에게로 돌아가리라"(슥 1:3)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274320" y="28437840"/>
            <a:ext cx="27432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선지자 · 말씀 지도자 카드</a:t>
            </a:r>
            <a:r>
              <a:rPr sz="1400" b="0">
                <a:solidFill>
                  <a:srgbClr val="A0A0A0"/>
                </a:solidFill>
                <a:latin typeface="맑은 고딕"/>
                <a:ea typeface="맑은 고딕"/>
                <a:cs typeface="맑은 고딕"/>
              </a:rPr>
              <a:t>   — 활동 · 대상 · 핵심 메시지 · 갈등 · 대표 본문 · 하나님의 의도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27432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27432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457200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① 예레미야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627–586 → 애굽(580?)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57200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BC 627–586 이후 (요시야 13년 ~ 애굽 다바네스) · 약 45년, 유다 왕 5명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 왕과 예루살렘 · 바벨론 포로민(29장 편지) · 애굽 피난민(43–44장)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"돌아오라"(3:12) → "바벨론 왕을 섬기라 그리하면 살리라"(27:12) → "70년이 차면 돌아오게 하리라"(29:10) → 새 언약(31:31-33)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여호야김 — 두루마리를 칼로 베어 태움(36:23) · 거짓 선지자 하나냐 — 나무 멍에를 꺾음(28장) · 제사장 바스훌 — 차꼬(20:2) · 고관들 — 진흙 구덩이(38:6) · 시드기야 — 사람을 두려워함(38:19) · 요하난 — 애굽행(43장)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렘 1:4-10 · 7:1-15 · 29:10-14 · 31:31-34 · 36 · 38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심판 직전까지 살 길을 열어 두심 — "평안이요 재앙이 아니니라"(29:11)</a:t>
            </a:r>
          </a:p>
        </p:txBody>
      </p:sp>
      <p:sp>
        <p:nvSpPr>
          <p:cNvPr id="352" name="Rounded Rectangle 351"/>
          <p:cNvSpPr/>
          <p:nvPr/>
        </p:nvSpPr>
        <p:spPr>
          <a:xfrm>
            <a:off x="754380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754380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7726679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② 스바냐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요시야 시대 (개혁 전?)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7726679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요시야 시대(습 1:1) · 개혁(622) 이전으로 보는 견해가 많음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유다와 예루살렘 · 블레셋·모압·암몬·구스·앗수르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여호와의 큰 날(1:14) · 겸손한 남은 자(3:12) · "너로 말미암아 기쁨을 이기지 못하시며"(3:17)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바알의 남은 것과 그마림(1:4) · 말감으로 맹세하는 자(1:5) · "여호와는 복도 화도 내리지 않으신다" 하는 자(1:12)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습 1:4-6, 12-14 · 2:3 · 3:12-17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심판의 경고로 개혁을 깨우시고, 남은 자를 노래하며 기뻐하심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1481328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1481328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4996159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③ 하박국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c.608–598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4996159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연대 미상 · "갈대아 사람을 일으켰나니"(1:6) → 여호야김 시대(608–598) 추정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하나님께 드리는 질문과 대답 (대화체)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"의인은 그의 믿음으로 말미암아 살리라"(2:4) · "무화과나무가 무성하지 못하며… 나는 여호와로 말미암아 즐거워하리로다"(3:17-18)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선지자 ↔ 하나님 — "어찌하여 내게 죄악을 보게 하시며"(1:3) · "어찌하여 악인이 자기보다 의로운 사람을 삼키는데 잠잠하시나이까"(1:13)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 1:2-4, 12-13 · 2:1-4 · 3:17-19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이해되지 않는 때에도 하나님을 신뢰하며 사는 법을 가르치심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2208276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2208276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22265640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④ 다니엘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605–536 (70년 전체)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22265640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605 (여호야김 3년, 단 1:1) – 536 (고레스 3년, 10:1) · 포로 70년 전체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바벨론·메대·바사 왕궁 · 포로민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"왕들을 폐하시고 왕들을 세우시며"(2:21) · 뜻을 정함(1:8) · 예레미야의 70년을 읽고 기도(9:2-19) · 70이레(9:24)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느부갓네살 — 금 신상, 세 친구의 풀무불(3장) · 벨사살 — 성전 그릇으로 잔치(5:2) · 총리·고관들 — 사자 굴(6장)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 1:8 · 2:21 · 3:17-18 · 5:25-28 · 6:10 · 9:2-19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성전이 없는 땅에서도 하나님이 역사의 왕이심을 보이심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2935224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ounded Rectangle 364"/>
          <p:cNvSpPr/>
          <p:nvPr/>
        </p:nvSpPr>
        <p:spPr>
          <a:xfrm>
            <a:off x="2935224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29535120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⑤ 에스겔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593–571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29535120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593 (여호야긴 포로 5년, 겔 1:2) – 571 (27년, 29:17)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바벨론 그발 강가의 포로민 (597년 2차 포로와 함께 끌려감)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영광이 성전을 떠남(10–11장) · 각자 자기 죄로(18장) · 새 마음과 새 영(36:26) · 마른 뼈(37장) · 영광의 귀환(43:2-5)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"곧 돌아간다"는 포로민의 낙관 · 거짓 선지자들(13장) · 우상을 마음에 들인 장로들(14:3) · "아버지가 신 포도를 먹었으므로…" 속담(18:2)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겔 1 · 8–11 · 18 · 36:24-28 · 37:1-14 · 43:1-7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무너뜨리신 뒤 새 마음으로 다시 세우심 — "여호와삼마"(48:35)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3662172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3662172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36804600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⑥ 오바댜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연대 미상 (586 이후?)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36804600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연대 미상 · 예루살렘 함락(586) 이후로 보는 견해가 다수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에돔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형제의 환난 날에 방관하고 약탈한 에돔의 심판(10-14) · "나라가 여호와께 속하리라"(21)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에돔(에서) ↔ 유다(야곱) — 형제의 배신 (시 137:7과 같은 장면)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옵 3-4 · 10-15 · 17 · 21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교만한 자를 낮추시고 시온을 회복하심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43891200" y="29123640"/>
            <a:ext cx="7040880" cy="3953256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43891200" y="29123640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44074080" y="29123640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⑦ 학개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520 · 4개월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44074080" y="29809440"/>
            <a:ext cx="6675120" cy="317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520 · 다리오 2년 6월 1일 ~ 9월 24일 (학 1:1; 2:20) — 약 4개월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총독 스룹바벨 · 대제사장 여호수아 · 남은 백성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"이 성전이 황폐하였거늘 너희가 판벽한 집에 거주하는 것이 옳으냐"(1:4) · "내가 너희와 함께 하노라"(1:13; 2:4) · 나중 영광이 이전 영광보다 크리라(2:9)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"여호와의 전을 건축할 시기가 이르지 아니하였다"(1:2) 하는 백성 — 성전 vs 생계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 1:2-15 · 2:4-9 · 2:23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16년 멈춘 공사를 다시 일으켜 함께 계심을 회복하심 — 같은 달 24일에 공사 시작(1:15)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27432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27432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57200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⑧ 스가랴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520–518 (+9–14장 연대 미상)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457200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520 (다리오 2년 8월, 슥 1:1) – 518 (4년, 7:1) · 9–14장은 연대 미상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귀환 공동체 · 스룹바벨과 여호수아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"내게로 돌아오라… 내가 너희에게로 돌아가리라"(1:3) · 밤의 환상 8개 · "힘으로 되지 아니하며… 오직 나의 영으로"(4:6) · 겸손하여 나귀를 타신 왕(9:9)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작은 일의 날을 멸시하는 낙심(4:10) · 대제사장을 고발하는 사탄(3:1) · 형식만 남은 금식(7:3-7)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슥 1:3, 12-17 · 3:1-5 · 4:6-10 · 8:3-8 · 9:9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낙심한 공동체에 성전 너머 메시아의 소망을 심으심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754380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C7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754380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7726679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⑨ 말라기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c.460–430 (추정)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7726679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연대 미상 · 성전 운영 중, '총독'(1:8), 느헤미야 13장과 같은 문제 → c.460–430 추정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제사장들 · 백성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"내가 너희를 사랑하였노라"(1:2) · 흠 있는 제물(1:8) · 언약의 아내를 버림(2:14-16) · 온전한 십일조(3:10) · 엘리야를 보내리라(4:5-6)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제사장·백성의 반문 "어떻게…?"(1:2, 6, 7 · 2:14, 17 · 3:7, 8, 13) — 무뎌진 마음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 1:2, 6-8 · 2:14-16 · 3:1, 7-10 · 4:2-6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무뎌진 사랑을 깨우고 오실 이를 기다리게 하심 — 이후 약 400년의 침묵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1481328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1481328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4996159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⑩ 세스바살 · 스룹바벨 · 여호수아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538–515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4996159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538 귀환 (스 1:8, 11 · 2:2) ~ 515 성전 완공 (6:15)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귀환자 42,360명 (스 2:64)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제단 먼저(3:2-3) · 성전 기초 — 노인들은 울고 젊은이들은 기뻐함(3:12-13) · "하나님의 선지자들이 함께 있어 도왔더라"(5:2)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"그 땅 백성"의 방해·고발(4:1-5, 24) · 총독 닷드내의 조사(5:3-17) → 다리오가 고레스 조서를 찾아 줌(6:1-12)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 1–6 · 학 1–2 · 슥 3–4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건물의 회복 — 예배의 자리를 다시 세우심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2208276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2208276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22265640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⑪ 에스더 · 모르드개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483–473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2265640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아하수에로 3년 (483, 에 1:3) ~ 12년 (474, 3:7) → 부림절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바사 제국 안의 유다 민족 (귀환하지 않은 다수)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"이때를 위함이 아닌지 누가 알겠느냐"(4:14) · "죽으면 죽으리이다"(4:16)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아각 사람 하만(3:1) ↔ 무릎 꿇지 않은 모르드개(3:2) — 민족 말살 조서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3–4 · 7 · 9:20-28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하나님 이름이 한 번도 나오지 않는 책 — 숨은 섭리로 백성을 지키심 (성전과 에스라 사이 58년)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2935224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2935224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29535120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⑫ 에스라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458–440?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29535120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458 (아닥사스다 7년, 스 7:7) ~ 445 이후 (느 8 · 12:36)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귀환자 (남자 약 1,500명, 스 8) · 예루살렘 공동체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연구하고 → 준행하며 → 가르치기로 결심(7:10) · "하나님의 선한 손"(7:6, 9 · 8:22)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이방 통혼한 방백·제사장·레위인(9:1-2 · 10:18) — 에스라는 "우리"로 회개(9:6) · 반대한 요나단·야스야(10:15)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 7:6-10 · 8:21-23 · 9:3-15 · 느 8:1-12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말씀으로 사람을 회복하심 — "여호와로 인하여 기뻐하는 것이 너희의 힘"(느 8:10)</a:t>
            </a:r>
          </a:p>
        </p:txBody>
      </p:sp>
      <p:sp>
        <p:nvSpPr>
          <p:cNvPr id="396" name="Rounded Rectangle 395"/>
          <p:cNvSpPr/>
          <p:nvPr/>
        </p:nvSpPr>
        <p:spPr>
          <a:xfrm>
            <a:off x="36621720" y="33351216"/>
            <a:ext cx="7040880" cy="3718560"/>
          </a:xfrm>
          <a:prstGeom prst="roundRect">
            <a:avLst>
              <a:gd name="adj" fmla="val 3000"/>
            </a:avLst>
          </a:prstGeom>
          <a:solidFill>
            <a:srgbClr val="1F1F1F"/>
          </a:solidFill>
          <a:ln w="19050">
            <a:solidFill>
              <a:srgbClr val="5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ounded Rectangle 396"/>
          <p:cNvSpPr/>
          <p:nvPr/>
        </p:nvSpPr>
        <p:spPr>
          <a:xfrm>
            <a:off x="36621720" y="33351216"/>
            <a:ext cx="7040880" cy="566928"/>
          </a:xfrm>
          <a:prstGeom prst="roundRect">
            <a:avLst>
              <a:gd name="adj" fmla="val 20000"/>
            </a:avLst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36804600" y="33351216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⑬ 느헤미야</a:t>
            </a:r>
            <a:r>
              <a:rPr sz="1200" b="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   445–433 → 재귀환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36804600" y="34037016"/>
            <a:ext cx="6675120" cy="2941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활동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445 (아닥사스다 20년, 느 2:1) ~ 433 (32년, 13:6) → 얼마 후 재귀환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대상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예루살렘 주민 · 귀족 · 제사장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핵심 메시지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금식 기도(1:4-11) · 성벽 52일 완공(6:15) · 언약 갱신 서명(9:38–10장) · 안식일·십일조 개혁(13장)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갈등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산발랏·도비야·게셈의 조롱과 음모(2:19 · 4 · 6) · 고리대 하는 귀족(5:1-13) · 성전 방을 도비야에게 내준 엘리아십(13:4-9)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대표 본문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느 1:4-11 · 2:17-20 · 4:14 · 6:15-16 · 13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하나님의 의도  </a:t>
            </a: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공동체(울타리)의 회복 — "내 하나님의 선한 손이 나를 도우심"(2:8, 18)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39867840" y="37344096"/>
            <a:ext cx="10972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자료: 개역개정 · BHS · 바벨론 연대기 · 페르시아 왕명록 | Steve 설교 위키 (scripts/make_postexile_timeline_ppt.py)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6576000" cy="2011680"/>
          </a:xfrm>
          <a:prstGeom prst="roundRect">
            <a:avLst>
              <a:gd name="adj" fmla="val 20000"/>
            </a:avLst>
          </a:prstGeom>
          <a:solidFill>
            <a:srgbClr val="6B4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3566160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연대 근거와 논쟁 메모 — 점선으로 표시한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108960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연대 기준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왕들의 연대는 바벨론 연대기 · 페르시아 왕명록에 따른 관례적 연대. 예루살렘 함락은 586년설(587년설도 있음). 유다 왕 연대는 Thiele 계열.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937699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0303459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메대 다리오 (단 5:31; 6; 9:1)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성경 밖 기록에서 이름이 확인되지 않아 논쟁 — ① 바벨론 총독 구바루(고브리아스)설 ② 고레스 동일인설(단 6:28을 '다리오 시대 곧 고레스 시대'로 읽음) ③ 기타. 연표에는 점선으로만 표시.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766438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132198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벨사살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나보니두스의 아들. 나보니두스가 아라비아 데마에 머문 약 10년(c.553–543) 동안 바벨론을 맡은 공동 통치자 — 그래서 다니엘에게 '셋째 통치자'(단 5:29)를 약속.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5177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960937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70년의 계산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605(1차 포로) → 539/538(고레스) ② 586(성전 파괴) → 515(성전 완공) ③ 상징적 완전수. 성경 안에서도 렘 25·29(바벨론의 70년)와 슥 1:12·7:5(진노·금식의 70년)가 다른 시점을 센다.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423916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789676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스 4:6-23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아하수에로·아닥사스다 때의 고발(성벽 공사 중지)을 성전 재건 이야기 중간에 주제별로 모아 둔 단락 — 시간 순서로는 486년 이후. 성벽 중지 조서는 c.460–446 사이로 추정(연표에는 452 근처).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0" y="3108960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0" y="3474720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에스라의 연대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아닥사스다 1세 7년 = 458년(전통적 견해, 이 연표). 아닥사스다 2세(398년)로 보는 소수설이 있음.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86080" y="9937699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0" y="10303459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연대 미상 선지서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스바냐(요시야 시대, 개혁 전 추정) · 하박국(여호야김 시대 추정) · 오바댜(586 이후 다수설) · 스가랴 9–14장 · 말라기(c.460–430)는 본문에 연대가 없어 점선 처리.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786080" y="16766438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0" y="17132198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네리글리살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렘 39:3, 13의 '네르갈사레셀'(바벨론 고관)과 같은 인물일 가능성 — 확정은 아님.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786080" y="23595177"/>
            <a:ext cx="24505920" cy="6462979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25400">
            <a:solidFill>
              <a:srgbClr val="F2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0" y="23960937"/>
            <a:ext cx="23408640" cy="591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2D16B"/>
                </a:solidFill>
                <a:latin typeface="맑은 고딕"/>
                <a:ea typeface="맑은 고딕"/>
                <a:cs typeface="맑은 고딕"/>
              </a:rPr>
              <a:t>훌다·나훔</a:t>
            </a:r>
          </a:p>
          <a:p>
            <a:pPr algn="l"/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여선지자 훌다(왕하 22:14, 622)와 나훔(니느웨 함락 612 이전)은 사건 레이어에만 표시.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