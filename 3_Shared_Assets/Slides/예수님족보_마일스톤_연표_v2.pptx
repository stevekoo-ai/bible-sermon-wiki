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109728"/>
            <a:ext cx="5120640" cy="384048"/>
          </a:xfrm>
          <a:prstGeom prst="roundRect">
            <a:avLst/>
          </a:prstGeom>
          <a:solidFill>
            <a:srgbClr val="8B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9377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예수 그리스도의 족보 — 마태복음 1:1-17 (3 × 14대)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146304"/>
            <a:ext cx="6492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네모: 왼쪽 변 = 시작, 오른쪽 변 = 끝 · 왕은 재위 기간, 그 외는 생애 · 점선 = 연대 추정(성경에 연대 기록 없음)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329184"/>
            <a:ext cx="6492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✅ 선한 왕  ❌ 악한 왕  👩 마태가 넣은 여인 · 연대: 보수적 주류 연대기 근사값(출애굽 1446 · 다윗 즉위 1010 · 분열 931)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11871655" cy="1505712"/>
          </a:xfrm>
          <a:prstGeom prst="rect">
            <a:avLst/>
          </a:prstGeom>
          <a:solidFill>
            <a:srgbClr val="2A2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14400"/>
            <a:ext cx="64008" cy="150571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95097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14E"/>
                </a:solidFill>
                <a:latin typeface="맑은 고딕"/>
                <a:ea typeface="맑은 고딕"/>
                <a:cs typeface="맑은 고딕"/>
              </a:rPr>
              <a:t>1기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188720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14E"/>
                </a:solidFill>
                <a:latin typeface="맑은 고딕"/>
                <a:ea typeface="맑은 고딕"/>
                <a:cs typeface="맑은 고딕"/>
              </a:rPr>
              <a:t>약속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353312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아브라함 → 다윗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401824"/>
            <a:ext cx="11871655" cy="1505711"/>
          </a:xfrm>
          <a:prstGeom prst="rect">
            <a:avLst/>
          </a:prstGeom>
          <a:solidFill>
            <a:srgbClr val="16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401824"/>
            <a:ext cx="64008" cy="1505711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2438400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2기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67614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왕국과 몰락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84073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다윗 → 바벨론 포로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9248"/>
            <a:ext cx="11871655" cy="1505711"/>
          </a:xfrm>
          <a:prstGeom prst="rect">
            <a:avLst/>
          </a:prstGeom>
          <a:solidFill>
            <a:srgbClr val="172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9248"/>
            <a:ext cx="64008" cy="1505711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925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3기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4163568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회복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4328160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포로 → 그리스도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5449824"/>
            <a:ext cx="11871655" cy="310896"/>
          </a:xfrm>
          <a:prstGeom prst="rect">
            <a:avLst/>
          </a:prstGeom>
          <a:solidFill>
            <a:srgbClr val="2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5449824"/>
            <a:ext cx="64008" cy="310896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5468112"/>
            <a:ext cx="9144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천사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5771692"/>
            <a:ext cx="11871655" cy="164592"/>
          </a:xfrm>
          <a:prstGeom prst="rect">
            <a:avLst/>
          </a:prstGeom>
          <a:solidFill>
            <a:srgbClr val="2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5771692"/>
            <a:ext cx="64008" cy="164592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5789980"/>
            <a:ext cx="9144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B347"/>
                </a:solidFill>
                <a:latin typeface="맑은 고딕"/>
                <a:ea typeface="맑은 고딕"/>
                <a:cs typeface="맑은 고딕"/>
              </a:rPr>
              <a:t>특별히 보내신 사람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5947257"/>
            <a:ext cx="11871655" cy="310896"/>
          </a:xfrm>
          <a:prstGeom prst="rect">
            <a:avLst/>
          </a:prstGeom>
          <a:solidFill>
            <a:srgbClr val="2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5947257"/>
            <a:ext cx="64008" cy="310896"/>
          </a:xfrm>
          <a:prstGeom prst="rect">
            <a:avLst/>
          </a:prstGeom>
          <a:solidFill>
            <a:srgbClr val="D9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5965545"/>
            <a:ext cx="9144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D98C5F"/>
                </a:solidFill>
                <a:latin typeface="맑은 고딕"/>
                <a:ea typeface="맑은 고딕"/>
                <a:cs typeface="맑은 고딕"/>
              </a:rPr>
              <a:t>사사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6269126"/>
            <a:ext cx="11871655" cy="457200"/>
          </a:xfrm>
          <a:prstGeom prst="rect">
            <a:avLst/>
          </a:prstGeom>
          <a:solidFill>
            <a:srgbClr val="2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6269126"/>
            <a:ext cx="64008" cy="457200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6287414"/>
            <a:ext cx="9144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선지자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5632704"/>
            <a:ext cx="914400" cy="9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여호와의 사자·가브리엘·미가엘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34440" y="786384"/>
            <a:ext cx="10774375" cy="0"/>
          </a:xfrm>
          <a:prstGeom prst="line">
            <a:avLst/>
          </a:prstGeom>
          <a:ln w="9525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34440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60120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2200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15438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96437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922117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2000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677436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158435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84115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1800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639434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20433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846113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1600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601432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82431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808111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1400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63430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44428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770108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1200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25427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006426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732106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1000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487425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968424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694104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800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49423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930422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656102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600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411421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892420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618100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400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373418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854417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0580097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200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1335416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816415" y="786384"/>
            <a:ext cx="0" cy="5943600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1542095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BC/AD</a:t>
            </a:r>
          </a:p>
        </p:txBody>
      </p:sp>
      <p:sp>
        <p:nvSpPr>
          <p:cNvPr id="70" name="Diamond 69"/>
          <p:cNvSpPr/>
          <p:nvPr/>
        </p:nvSpPr>
        <p:spPr>
          <a:xfrm>
            <a:off x="1717580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758728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347248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부르심 2091</a:t>
            </a:r>
          </a:p>
        </p:txBody>
      </p:sp>
      <p:sp>
        <p:nvSpPr>
          <p:cNvPr id="73" name="Diamond 72"/>
          <p:cNvSpPr/>
          <p:nvPr/>
        </p:nvSpPr>
        <p:spPr>
          <a:xfrm>
            <a:off x="2751728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2792876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381396" y="585216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애굽 이주 1876</a:t>
            </a:r>
          </a:p>
        </p:txBody>
      </p:sp>
      <p:sp>
        <p:nvSpPr>
          <p:cNvPr id="76" name="Diamond 75"/>
          <p:cNvSpPr/>
          <p:nvPr/>
        </p:nvSpPr>
        <p:spPr>
          <a:xfrm>
            <a:off x="4820023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4861171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449691" y="667512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출애굽 1446</a:t>
            </a:r>
          </a:p>
        </p:txBody>
      </p:sp>
      <p:sp>
        <p:nvSpPr>
          <p:cNvPr id="79" name="Diamond 78"/>
          <p:cNvSpPr/>
          <p:nvPr/>
        </p:nvSpPr>
        <p:spPr>
          <a:xfrm>
            <a:off x="5012423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5053571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642091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가나안 1406</a:t>
            </a:r>
          </a:p>
        </p:txBody>
      </p:sp>
      <p:sp>
        <p:nvSpPr>
          <p:cNvPr id="82" name="Diamond 81"/>
          <p:cNvSpPr/>
          <p:nvPr/>
        </p:nvSpPr>
        <p:spPr>
          <a:xfrm>
            <a:off x="6917178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6958326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546846" y="585216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다윗 즉위 1010</a:t>
            </a:r>
          </a:p>
        </p:txBody>
      </p:sp>
      <p:sp>
        <p:nvSpPr>
          <p:cNvPr id="85" name="Diamond 84"/>
          <p:cNvSpPr/>
          <p:nvPr/>
        </p:nvSpPr>
        <p:spPr>
          <a:xfrm>
            <a:off x="7162488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7203636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792156" y="667512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성전 완공 959</a:t>
            </a:r>
          </a:p>
        </p:txBody>
      </p:sp>
      <p:sp>
        <p:nvSpPr>
          <p:cNvPr id="88" name="Diamond 87"/>
          <p:cNvSpPr/>
          <p:nvPr/>
        </p:nvSpPr>
        <p:spPr>
          <a:xfrm>
            <a:off x="7297167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7338315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926835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분열 931</a:t>
            </a:r>
          </a:p>
        </p:txBody>
      </p:sp>
      <p:sp>
        <p:nvSpPr>
          <p:cNvPr id="91" name="Diamond 90"/>
          <p:cNvSpPr/>
          <p:nvPr/>
        </p:nvSpPr>
        <p:spPr>
          <a:xfrm>
            <a:off x="8302455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8343603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932123" y="585216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북 멸망 722</a:t>
            </a:r>
          </a:p>
        </p:txBody>
      </p:sp>
      <p:sp>
        <p:nvSpPr>
          <p:cNvPr id="94" name="Diamond 93"/>
          <p:cNvSpPr/>
          <p:nvPr/>
        </p:nvSpPr>
        <p:spPr>
          <a:xfrm>
            <a:off x="8956614" y="745236"/>
            <a:ext cx="82296" cy="82296"/>
          </a:xfrm>
          <a:prstGeom prst="diamond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8997762" y="786384"/>
            <a:ext cx="0" cy="5943600"/>
          </a:xfrm>
          <a:prstGeom prst="line">
            <a:avLst/>
          </a:prstGeom>
          <a:ln w="15875">
            <a:solidFill>
              <a:srgbClr val="FF4D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8586282" y="667512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성전 불탐 586</a:t>
            </a:r>
          </a:p>
        </p:txBody>
      </p:sp>
      <p:sp>
        <p:nvSpPr>
          <p:cNvPr id="97" name="Diamond 96"/>
          <p:cNvSpPr/>
          <p:nvPr/>
        </p:nvSpPr>
        <p:spPr>
          <a:xfrm>
            <a:off x="9187493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9228641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8817161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귀환 538</a:t>
            </a:r>
          </a:p>
        </p:txBody>
      </p:sp>
      <p:sp>
        <p:nvSpPr>
          <p:cNvPr id="100" name="Diamond 99"/>
          <p:cNvSpPr/>
          <p:nvPr/>
        </p:nvSpPr>
        <p:spPr>
          <a:xfrm>
            <a:off x="9293313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9334461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922981" y="585216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성전 재건 516</a:t>
            </a:r>
          </a:p>
        </p:txBody>
      </p:sp>
      <p:sp>
        <p:nvSpPr>
          <p:cNvPr id="103" name="Diamond 102"/>
          <p:cNvSpPr/>
          <p:nvPr/>
        </p:nvSpPr>
        <p:spPr>
          <a:xfrm>
            <a:off x="10986429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11027577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0616097" y="667512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성전 정화 164</a:t>
            </a:r>
          </a:p>
        </p:txBody>
      </p:sp>
      <p:sp>
        <p:nvSpPr>
          <p:cNvPr id="106" name="Diamond 105"/>
          <p:cNvSpPr/>
          <p:nvPr/>
        </p:nvSpPr>
        <p:spPr>
          <a:xfrm>
            <a:off x="11751217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11792365" y="786384"/>
            <a:ext cx="0" cy="5943600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1380885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예수 탄생 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397979" y="932688"/>
            <a:ext cx="841748" cy="31089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397979" y="967435"/>
            <a:ext cx="190195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아브라함  ·  2166–1991 · 부르심(2091) · 횃불 언약(창 15)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878978" y="1038932"/>
            <a:ext cx="865798" cy="31089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878978" y="1073679"/>
            <a:ext cx="1408176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이삭  ·  2066–1886 · 모리아산 번제(창 22)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167577" y="1145177"/>
            <a:ext cx="707068" cy="31089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167577" y="1179924"/>
            <a:ext cx="169621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야곱  ·  2006–1859 · '이스라엘' · 애굽 이주(1876)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600476" y="1251421"/>
            <a:ext cx="557958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00476" y="1286168"/>
            <a:ext cx="169621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유다 👩다말  ·  약 1916– · 다말(창 38) — 족보 첫 여인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73636" y="1357666"/>
            <a:ext cx="480998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73636" y="1392413"/>
            <a:ext cx="149047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베레스  ·  약 1880– · 다말의 쌍둥이(창 38:29)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69836" y="1463910"/>
            <a:ext cx="480998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869836" y="1498658"/>
            <a:ext cx="1120140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헤스론  ·  애굽 이주 명단(창 46:12)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350835" y="1570155"/>
            <a:ext cx="961997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50835" y="1604902"/>
            <a:ext cx="136702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람  ·  애굽 체류기 · 400년 종살이 (연대 불명)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457132" y="1676400"/>
            <a:ext cx="384799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457132" y="1711147"/>
            <a:ext cx="1531620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아미나답  ·  약 1500 · 딸이 아론의 아내(출 6:23)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649532" y="1782644"/>
            <a:ext cx="399229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49532" y="1817391"/>
            <a:ext cx="149047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나손  ·  출애굽(1446) · 유다 지파 족장(민 1:7)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890031" y="1888889"/>
            <a:ext cx="384799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890031" y="1923636"/>
            <a:ext cx="1243584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살몬 👩라합  ·  가나안 입성(1406) · 라합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236828" y="1995133"/>
            <a:ext cx="384799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236828" y="2029880"/>
            <a:ext cx="1449324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보아스 👩룻  ·  사사 시대 · 모압 여인 룻(룻 2–4)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429228" y="2101378"/>
            <a:ext cx="384799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29228" y="2136125"/>
            <a:ext cx="1037844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오벳  ·  나오미의 품에서(룻 4:17)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25427" y="2207622"/>
            <a:ext cx="432899" cy="31089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525427" y="2242370"/>
            <a:ext cx="955547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이새  ·  베들레헴 사람(삼상 16)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14027" y="2313867"/>
            <a:ext cx="336699" cy="31089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14027" y="2348614"/>
            <a:ext cx="169621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다윗  ·  1040–970 · 즉위 1010 · 다윗 언약(삼하 7)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50726" y="2420112"/>
            <a:ext cx="18758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150726" y="2454859"/>
            <a:ext cx="157276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솔로몬 👩밧세바  ·  재위 970–931 · 성전 완공(959)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38315" y="2526356"/>
            <a:ext cx="8657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338315" y="2561103"/>
            <a:ext cx="136702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르호보암 ❌  ·  931–913 · 왕국 분열(931)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424895" y="2632601"/>
            <a:ext cx="45720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424895" y="2667348"/>
            <a:ext cx="790956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아비야 ❌  ·  913–911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434515" y="2738845"/>
            <a:ext cx="19720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434515" y="2773592"/>
            <a:ext cx="1202436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아사 ✅  ·  911–870 · 우상 제거 개혁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617295" y="2845090"/>
            <a:ext cx="12024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617295" y="2879837"/>
            <a:ext cx="1449324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여호사밧 ✅  ·  873–848 · 아합 집안과 혼인 동맹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713495" y="2951334"/>
            <a:ext cx="5771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713495" y="2986082"/>
            <a:ext cx="218998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요람 ❌  ·  853–841 · 아달랴와 결혼 (이후 3왕 생략: 아하시야·요아스·아마샤)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006904" y="3057579"/>
            <a:ext cx="25011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006904" y="3092326"/>
            <a:ext cx="149047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웃시야 ✅  ·  792–740 · 그가 죽던 해 이사야 소명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208923" y="3163824"/>
            <a:ext cx="8657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208923" y="3198571"/>
            <a:ext cx="74980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요담 ✅  ·  750–732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281073" y="3270068"/>
            <a:ext cx="9619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81073" y="3304815"/>
            <a:ext cx="1655064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아하스 ❌  ·  735–715 · 재위 중 북이스라엘 멸망(722)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377273" y="3376313"/>
            <a:ext cx="13948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377273" y="3411060"/>
            <a:ext cx="157276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히스기야 ✅  ·  715–686 · 산헤립 포위와 구원(701)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463853" y="3482557"/>
            <a:ext cx="26454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463853" y="3517304"/>
            <a:ext cx="149047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므낫세 ❌  ·  697–642 · 성전에 우상, 멸망의 원인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728402" y="3588802"/>
            <a:ext cx="45720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728402" y="3623549"/>
            <a:ext cx="74980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아몬 ❌  ·  642–640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738022" y="3695046"/>
            <a:ext cx="14910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738022" y="3729794"/>
            <a:ext cx="231343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요시야 ✅  ·  640–609 · 율법책 발견·대개혁(622) (이후 여호아하스·여호야김 생략)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940042" y="3801291"/>
            <a:ext cx="57719" cy="31089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940042" y="3836038"/>
            <a:ext cx="2478024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여고냐와 형제들 ❌  ·  598–597 재위 · 포로(597) · 형제 시드기야 때 성전 불탐(586)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944852" y="3907536"/>
            <a:ext cx="173159" cy="31089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944852" y="3942283"/>
            <a:ext cx="177850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여고냐  ·  포로 597 → 석방 561 · 왕의 식탁(왕하 25:27)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954472" y="4013780"/>
            <a:ext cx="31264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954472" y="4048527"/>
            <a:ext cx="116128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스알디엘  ·  바벨론에서 출생(대상 3:17)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074721" y="4120025"/>
            <a:ext cx="3366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074721" y="4154772"/>
            <a:ext cx="1860803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스룹바벨  ·  귀환 538 · 성전 재건 516 · 인장 반지(학 2:23)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267121" y="4226269"/>
            <a:ext cx="2885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267121" y="4261016"/>
            <a:ext cx="1613916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아비훗  ·  ↓ 여기서부터 요셉까지 구약 기록 없음 (연대 추정)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507620" y="4332514"/>
            <a:ext cx="2885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507620" y="4367261"/>
            <a:ext cx="1531620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엘리아김  ·  페르시아 시대 · 에스더·에스라·느헤미야·말라기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748120" y="4438758"/>
            <a:ext cx="2885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748120" y="4473506"/>
            <a:ext cx="1120140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아소르  ·  말라기 이후 '침묵의 400년'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988619" y="4545003"/>
            <a:ext cx="2885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988619" y="4579750"/>
            <a:ext cx="873252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사독  ·  알렉산더 대왕(333)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229119" y="4651248"/>
            <a:ext cx="2885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229119" y="4685995"/>
            <a:ext cx="585216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아킴  ·  헬라 시대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469618" y="4757492"/>
            <a:ext cx="2885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469618" y="4792239"/>
            <a:ext cx="708659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엘리웃  ·  프톨레미 지배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710118" y="4863737"/>
            <a:ext cx="3366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391753" y="4898484"/>
            <a:ext cx="1655064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엘르아살  ·  셀류시드 · 성전 모독(167)·마카비 정화(164)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998717" y="4969981"/>
            <a:ext cx="3366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998717" y="5004728"/>
            <a:ext cx="626364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맛단  ·  하스몬 왕조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287316" y="5076226"/>
            <a:ext cx="3366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874208" y="5110973"/>
            <a:ext cx="749808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야곱  ·  로마 점령(63)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575916" y="5182470"/>
            <a:ext cx="288599" cy="31089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127155" y="5217218"/>
            <a:ext cx="1737360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요셉 👩마리아  ·  헤롯 대왕(37–4) · 다윗의 자손(마 1:20)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1792365" y="5288715"/>
            <a:ext cx="168349" cy="31089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0223355" y="5323462"/>
            <a:ext cx="1737360" cy="7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예수 그리스도  ·  탄생 약 BC 6–4 · 십자가 약 AD 30–33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1234440" y="5513832"/>
            <a:ext cx="10774375" cy="0"/>
          </a:xfrm>
          <a:prstGeom prst="line">
            <a:avLst/>
          </a:prstGeom>
          <a:ln w="6350">
            <a:solidFill>
              <a:srgbClr val="554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1784206" y="5486400"/>
            <a:ext cx="54864" cy="54864"/>
          </a:xfrm>
          <a:prstGeom prst="ellipse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793350" y="5545836"/>
            <a:ext cx="521207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하갈에게(창 16)</a:t>
            </a:r>
          </a:p>
        </p:txBody>
      </p:sp>
      <p:sp>
        <p:nvSpPr>
          <p:cNvPr id="196" name="Oval 195"/>
          <p:cNvSpPr/>
          <p:nvPr/>
        </p:nvSpPr>
        <p:spPr>
          <a:xfrm>
            <a:off x="1928506" y="5486400"/>
            <a:ext cx="54864" cy="54864"/>
          </a:xfrm>
          <a:prstGeom prst="ellipse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937650" y="5618988"/>
            <a:ext cx="521207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모리아산(창 22)</a:t>
            </a:r>
          </a:p>
        </p:txBody>
      </p:sp>
      <p:sp>
        <p:nvSpPr>
          <p:cNvPr id="198" name="Oval 197"/>
          <p:cNvSpPr/>
          <p:nvPr/>
        </p:nvSpPr>
        <p:spPr>
          <a:xfrm>
            <a:off x="4833739" y="5486400"/>
            <a:ext cx="54864" cy="54864"/>
          </a:xfrm>
          <a:prstGeom prst="ellipse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842883" y="5692140"/>
            <a:ext cx="607161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떨기나무 모세(출 3)</a:t>
            </a:r>
          </a:p>
        </p:txBody>
      </p:sp>
      <p:sp>
        <p:nvSpPr>
          <p:cNvPr id="200" name="Oval 199"/>
          <p:cNvSpPr/>
          <p:nvPr/>
        </p:nvSpPr>
        <p:spPr>
          <a:xfrm>
            <a:off x="6166106" y="5486400"/>
            <a:ext cx="54864" cy="54864"/>
          </a:xfrm>
          <a:prstGeom prst="ellipse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175250" y="5545836"/>
            <a:ext cx="435254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기드온(삿 6)</a:t>
            </a:r>
          </a:p>
        </p:txBody>
      </p:sp>
      <p:sp>
        <p:nvSpPr>
          <p:cNvPr id="202" name="Oval 201"/>
          <p:cNvSpPr/>
          <p:nvPr/>
        </p:nvSpPr>
        <p:spPr>
          <a:xfrm>
            <a:off x="6522045" y="5486400"/>
            <a:ext cx="54864" cy="54864"/>
          </a:xfrm>
          <a:prstGeom prst="ellipse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531189" y="5618988"/>
            <a:ext cx="564184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삼손 부모(삿 13)</a:t>
            </a:r>
          </a:p>
        </p:txBody>
      </p:sp>
      <p:sp>
        <p:nvSpPr>
          <p:cNvPr id="204" name="Oval 203"/>
          <p:cNvSpPr/>
          <p:nvPr/>
        </p:nvSpPr>
        <p:spPr>
          <a:xfrm>
            <a:off x="7652393" y="5486400"/>
            <a:ext cx="54864" cy="54864"/>
          </a:xfrm>
          <a:prstGeom prst="ellipse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661537" y="5692140"/>
            <a:ext cx="736092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로뎀나무 엘리야(왕상 19)</a:t>
            </a:r>
          </a:p>
        </p:txBody>
      </p:sp>
      <p:sp>
        <p:nvSpPr>
          <p:cNvPr id="206" name="Oval 205"/>
          <p:cNvSpPr/>
          <p:nvPr/>
        </p:nvSpPr>
        <p:spPr>
          <a:xfrm>
            <a:off x="8417181" y="5486400"/>
            <a:ext cx="54864" cy="54864"/>
          </a:xfrm>
          <a:prstGeom prst="ellipse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426325" y="5545836"/>
            <a:ext cx="779068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앗수르 18만5천(왕하 19)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166111" y="5493715"/>
            <a:ext cx="57719" cy="40233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147823" y="5618988"/>
            <a:ext cx="736092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가브리엘→다니엘(단 8·9)</a:t>
            </a:r>
          </a:p>
        </p:txBody>
      </p:sp>
      <p:sp>
        <p:nvSpPr>
          <p:cNvPr id="210" name="Oval 209"/>
          <p:cNvSpPr/>
          <p:nvPr/>
        </p:nvSpPr>
        <p:spPr>
          <a:xfrm>
            <a:off x="9210829" y="5486400"/>
            <a:ext cx="54864" cy="54864"/>
          </a:xfrm>
          <a:prstGeom prst="ellipse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219973" y="5692140"/>
            <a:ext cx="607161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미가엘(단 10·12)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1782745" y="5493715"/>
            <a:ext cx="45720" cy="40233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1186769" y="5545836"/>
            <a:ext cx="822045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E8E8FF"/>
                </a:solidFill>
                <a:latin typeface="맑은 고딕"/>
                <a:ea typeface="맑은 고딕"/>
                <a:cs typeface="맑은 고딕"/>
              </a:rPr>
              <a:t>가브리엘→사가랴·마리아(눅 1)</a:t>
            </a:r>
          </a:p>
        </p:txBody>
      </p:sp>
      <p:cxnSp>
        <p:nvCxnSpPr>
          <p:cNvPr id="214" name="Connector 213"/>
          <p:cNvCxnSpPr/>
          <p:nvPr/>
        </p:nvCxnSpPr>
        <p:spPr>
          <a:xfrm>
            <a:off x="1234440" y="5835700"/>
            <a:ext cx="10774375" cy="0"/>
          </a:xfrm>
          <a:prstGeom prst="line">
            <a:avLst/>
          </a:prstGeom>
          <a:ln w="6350">
            <a:solidFill>
              <a:srgbClr val="554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Oval 214"/>
          <p:cNvSpPr/>
          <p:nvPr/>
        </p:nvSpPr>
        <p:spPr>
          <a:xfrm>
            <a:off x="1760156" y="5808268"/>
            <a:ext cx="54864" cy="54864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769300" y="5867704"/>
            <a:ext cx="1724558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B347"/>
                </a:solidFill>
                <a:latin typeface="맑은 고딕"/>
                <a:ea typeface="맑은 고딕"/>
                <a:cs typeface="맑은 고딕"/>
              </a:rPr>
              <a:t>멜기세덱 — 살렘 왕·지극히 높은 하나님의 제사장(창 14; 히 7)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1787555" y="5815584"/>
            <a:ext cx="168349" cy="40233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671048" y="5867704"/>
            <a:ext cx="1337767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FFB347"/>
                </a:solidFill>
                <a:latin typeface="맑은 고딕"/>
                <a:ea typeface="맑은 고딕"/>
                <a:cs typeface="맑은 고딕"/>
              </a:rPr>
              <a:t>세례 요한 — 주의 길을 예비(말 3:1 → 마 3)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1234440" y="6011265"/>
            <a:ext cx="10774375" cy="0"/>
          </a:xfrm>
          <a:prstGeom prst="line">
            <a:avLst/>
          </a:prstGeom>
          <a:ln w="6350">
            <a:solidFill>
              <a:srgbClr val="554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ectangle 219"/>
          <p:cNvSpPr/>
          <p:nvPr/>
        </p:nvSpPr>
        <p:spPr>
          <a:xfrm>
            <a:off x="5212300" y="5991148"/>
            <a:ext cx="187589" cy="40233"/>
          </a:xfrm>
          <a:prstGeom prst="rect">
            <a:avLst/>
          </a:prstGeom>
          <a:solidFill>
            <a:srgbClr val="D9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194012" y="6043269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D98C5F"/>
                </a:solidFill>
                <a:latin typeface="맑은 고딕"/>
                <a:ea typeface="맑은 고딕"/>
                <a:cs typeface="맑은 고딕"/>
              </a:rPr>
              <a:t>옷니엘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486470" y="5991148"/>
            <a:ext cx="384799" cy="40233"/>
          </a:xfrm>
          <a:prstGeom prst="rect">
            <a:avLst/>
          </a:prstGeom>
          <a:solidFill>
            <a:srgbClr val="D9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468182" y="6116421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D98C5F"/>
                </a:solidFill>
                <a:latin typeface="맑은 고딕"/>
                <a:ea typeface="맑은 고딕"/>
                <a:cs typeface="맑은 고딕"/>
              </a:rPr>
              <a:t>에훗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967469" y="5991148"/>
            <a:ext cx="192399" cy="40233"/>
          </a:xfrm>
          <a:prstGeom prst="rect">
            <a:avLst/>
          </a:prstGeom>
          <a:solidFill>
            <a:srgbClr val="D9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949181" y="6189573"/>
            <a:ext cx="34930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D98C5F"/>
                </a:solidFill>
                <a:latin typeface="맑은 고딕"/>
                <a:ea typeface="맑은 고딕"/>
                <a:cs typeface="맑은 고딕"/>
              </a:rPr>
              <a:t>드보라·바락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193538" y="5991148"/>
            <a:ext cx="192399" cy="40233"/>
          </a:xfrm>
          <a:prstGeom prst="rect">
            <a:avLst/>
          </a:prstGeom>
          <a:solidFill>
            <a:srgbClr val="D9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175250" y="6043269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D98C5F"/>
                </a:solidFill>
                <a:latin typeface="맑은 고딕"/>
                <a:ea typeface="맑은 고딕"/>
                <a:cs typeface="맑은 고딕"/>
              </a:rPr>
              <a:t>기드온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491757" y="5991148"/>
            <a:ext cx="192399" cy="40233"/>
          </a:xfrm>
          <a:prstGeom prst="rect">
            <a:avLst/>
          </a:prstGeom>
          <a:solidFill>
            <a:srgbClr val="D9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473469" y="6116421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D98C5F"/>
                </a:solidFill>
                <a:latin typeface="맑은 고딕"/>
                <a:ea typeface="맑은 고딕"/>
                <a:cs typeface="맑은 고딕"/>
              </a:rPr>
              <a:t>엘리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592767" y="5991148"/>
            <a:ext cx="45720" cy="40233"/>
          </a:xfrm>
          <a:prstGeom prst="rect">
            <a:avLst/>
          </a:prstGeom>
          <a:solidFill>
            <a:srgbClr val="D9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574479" y="6189573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D98C5F"/>
                </a:solidFill>
                <a:latin typeface="맑은 고딕"/>
                <a:ea typeface="맑은 고딕"/>
                <a:cs typeface="맑은 고딕"/>
              </a:rPr>
              <a:t>입다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645677" y="5991148"/>
            <a:ext cx="96199" cy="40233"/>
          </a:xfrm>
          <a:prstGeom prst="rect">
            <a:avLst/>
          </a:prstGeom>
          <a:solidFill>
            <a:srgbClr val="D9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6627389" y="6043269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D98C5F"/>
                </a:solidFill>
                <a:latin typeface="맑은 고딕"/>
                <a:ea typeface="맑은 고딕"/>
                <a:cs typeface="맑은 고딕"/>
              </a:rPr>
              <a:t>삼손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717827" y="5991148"/>
            <a:ext cx="192399" cy="40233"/>
          </a:xfrm>
          <a:prstGeom prst="rect">
            <a:avLst/>
          </a:prstGeom>
          <a:solidFill>
            <a:srgbClr val="D9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699539" y="6116421"/>
            <a:ext cx="736092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D98C5F"/>
                </a:solidFill>
                <a:latin typeface="맑은 고딕"/>
                <a:ea typeface="맑은 고딕"/>
                <a:cs typeface="맑은 고딕"/>
              </a:rPr>
              <a:t>사무엘(마지막 사사·선지자)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1234440" y="6333134"/>
            <a:ext cx="10774375" cy="0"/>
          </a:xfrm>
          <a:prstGeom prst="line">
            <a:avLst/>
          </a:prstGeom>
          <a:ln w="6350">
            <a:solidFill>
              <a:srgbClr val="554A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ectangle 236"/>
          <p:cNvSpPr/>
          <p:nvPr/>
        </p:nvSpPr>
        <p:spPr>
          <a:xfrm>
            <a:off x="4861171" y="6313017"/>
            <a:ext cx="19239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4842883" y="6365138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모세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006426" y="6313017"/>
            <a:ext cx="14429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988138" y="6438290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나단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607675" y="6313017"/>
            <a:ext cx="12986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589387" y="6511442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엘리야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737545" y="6313017"/>
            <a:ext cx="24530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719257" y="6584594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엘리사</a:t>
            </a:r>
          </a:p>
        </p:txBody>
      </p:sp>
      <p:sp>
        <p:nvSpPr>
          <p:cNvPr id="245" name="Oval 244"/>
          <p:cNvSpPr/>
          <p:nvPr/>
        </p:nvSpPr>
        <p:spPr>
          <a:xfrm>
            <a:off x="8013142" y="6305702"/>
            <a:ext cx="54864" cy="54864"/>
          </a:xfrm>
          <a:prstGeom prst="ellipse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022286" y="6657746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요나</a:t>
            </a:r>
          </a:p>
        </p:txBody>
      </p:sp>
      <p:sp>
        <p:nvSpPr>
          <p:cNvPr id="247" name="Oval 246"/>
          <p:cNvSpPr/>
          <p:nvPr/>
        </p:nvSpPr>
        <p:spPr>
          <a:xfrm>
            <a:off x="8133392" y="6305702"/>
            <a:ext cx="54864" cy="54864"/>
          </a:xfrm>
          <a:prstGeom prst="ellipse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142536" y="6365138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아모스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8184874" y="6313017"/>
            <a:ext cx="19239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166586" y="6438290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호세아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8257023" y="6313017"/>
            <a:ext cx="28378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238735" y="6511442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이사야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8281073" y="6313017"/>
            <a:ext cx="16834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262785" y="6584594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미가</a:t>
            </a:r>
          </a:p>
        </p:txBody>
      </p:sp>
      <p:sp>
        <p:nvSpPr>
          <p:cNvPr id="255" name="Oval 254"/>
          <p:cNvSpPr/>
          <p:nvPr/>
        </p:nvSpPr>
        <p:spPr>
          <a:xfrm>
            <a:off x="8662490" y="6305702"/>
            <a:ext cx="54864" cy="54864"/>
          </a:xfrm>
          <a:prstGeom prst="ellipse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671634" y="6657746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나훔</a:t>
            </a:r>
          </a:p>
        </p:txBody>
      </p:sp>
      <p:sp>
        <p:nvSpPr>
          <p:cNvPr id="257" name="Oval 256"/>
          <p:cNvSpPr/>
          <p:nvPr/>
        </p:nvSpPr>
        <p:spPr>
          <a:xfrm>
            <a:off x="8758690" y="6305702"/>
            <a:ext cx="54864" cy="54864"/>
          </a:xfrm>
          <a:prstGeom prst="ellipse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767834" y="6365138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스바냐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800552" y="6313017"/>
            <a:ext cx="19720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8782264" y="6438290"/>
            <a:ext cx="263347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예레미야</a:t>
            </a:r>
          </a:p>
        </p:txBody>
      </p:sp>
      <p:sp>
        <p:nvSpPr>
          <p:cNvPr id="261" name="Oval 260"/>
          <p:cNvSpPr/>
          <p:nvPr/>
        </p:nvSpPr>
        <p:spPr>
          <a:xfrm>
            <a:off x="8869320" y="6305702"/>
            <a:ext cx="54864" cy="54864"/>
          </a:xfrm>
          <a:prstGeom prst="ellipse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8878464" y="6511442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하박국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8906372" y="6313017"/>
            <a:ext cx="33188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8888084" y="6584594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다니엘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8964092" y="6313017"/>
            <a:ext cx="10581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8945804" y="6657746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에스겔</a:t>
            </a:r>
          </a:p>
        </p:txBody>
      </p:sp>
      <p:sp>
        <p:nvSpPr>
          <p:cNvPr id="267" name="Oval 266"/>
          <p:cNvSpPr/>
          <p:nvPr/>
        </p:nvSpPr>
        <p:spPr>
          <a:xfrm>
            <a:off x="9287789" y="6305702"/>
            <a:ext cx="54864" cy="54864"/>
          </a:xfrm>
          <a:prstGeom prst="ellipse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9296933" y="6365138"/>
            <a:ext cx="177393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학개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9315221" y="6313017"/>
            <a:ext cx="192399" cy="40233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9296933" y="6438290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스가랴</a:t>
            </a:r>
          </a:p>
        </p:txBody>
      </p:sp>
      <p:sp>
        <p:nvSpPr>
          <p:cNvPr id="271" name="Oval 270"/>
          <p:cNvSpPr/>
          <p:nvPr/>
        </p:nvSpPr>
        <p:spPr>
          <a:xfrm>
            <a:off x="9720688" y="6305702"/>
            <a:ext cx="54864" cy="54864"/>
          </a:xfrm>
          <a:prstGeom prst="ellipse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9729832" y="6511442"/>
            <a:ext cx="220370" cy="73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말라기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248722" y="4226269"/>
            <a:ext cx="36576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10/18 설교 본문 (왕하 25) — 성전이 불탄 날 ▶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5248722" y="4372573"/>
            <a:ext cx="36576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족보의 두 번째 경첩 '바벨론으로 사로잡혀 갈 때' (마 1:11, 12, 17)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