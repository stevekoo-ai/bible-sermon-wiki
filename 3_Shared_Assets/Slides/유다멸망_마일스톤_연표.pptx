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09728"/>
            <a:ext cx="5852160" cy="384048"/>
          </a:xfrm>
          <a:prstGeom prst="round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566928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 멸망 사건 연대표 — 열왕기하 24–25 · 예레미야 39–43,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18872"/>
            <a:ext cx="5760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네모: 왼쪽 변 = 시작, 오른쪽 변 = 끝 · 점선 = 날짜 추정 · 날짜는 율리우스력 근사(Thiele/Parker-Dubberstein, 함락 586년설)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338328"/>
            <a:ext cx="109728" cy="9144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9944" y="310896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★ 10/18 본문</a:t>
            </a:r>
          </a:p>
        </p:txBody>
      </p:sp>
      <p:sp>
        <p:nvSpPr>
          <p:cNvPr id="7" name="Rectangle 6"/>
          <p:cNvSpPr/>
          <p:nvPr/>
        </p:nvSpPr>
        <p:spPr>
          <a:xfrm>
            <a:off x="7296912" y="338328"/>
            <a:ext cx="109728" cy="91440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3215" y="310896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바벨론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7786115" y="338328"/>
            <a:ext cx="109728" cy="91440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2419" y="310896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유다 왕실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30767" y="338328"/>
            <a:ext cx="109728" cy="91440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7072" y="310896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예레미야·에벳멜렉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86315" y="338328"/>
            <a:ext cx="109728" cy="91440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32619" y="310896"/>
            <a:ext cx="14630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그달랴와 남은 자들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170432"/>
            <a:ext cx="11871655" cy="1040490"/>
          </a:xfrm>
          <a:prstGeom prst="rect">
            <a:avLst/>
          </a:prstGeom>
          <a:solidFill>
            <a:srgbClr val="2A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197864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1389888"/>
            <a:ext cx="1051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바벨론의 등장과 1차 포로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499616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605–597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192634"/>
            <a:ext cx="11871655" cy="813334"/>
          </a:xfrm>
          <a:prstGeom prst="rect">
            <a:avLst/>
          </a:prstGeom>
          <a:solidFill>
            <a:srgbClr val="2C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220066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12090"/>
            <a:ext cx="1051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시드기야와 18개월 포위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521818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589–586.7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987681"/>
            <a:ext cx="11871655" cy="699756"/>
          </a:xfrm>
          <a:prstGeom prst="rect">
            <a:avLst/>
          </a:prstGeom>
          <a:solidFill>
            <a:srgbClr val="3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015113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207137"/>
            <a:ext cx="1051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성전이 불타던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316865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669150"/>
            <a:ext cx="11871655" cy="1494803"/>
          </a:xfrm>
          <a:prstGeom prst="rect">
            <a:avLst/>
          </a:prstGeom>
          <a:solidFill>
            <a:srgbClr val="17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69658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888606"/>
            <a:ext cx="1051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그달랴와 남은 자들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998334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 가을–말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5145665"/>
            <a:ext cx="11871655" cy="359022"/>
          </a:xfrm>
          <a:prstGeom prst="rect">
            <a:avLst/>
          </a:prstGeom>
          <a:solidFill>
            <a:srgbClr val="18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173097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365121"/>
            <a:ext cx="10515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그 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474849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582–561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5577840"/>
            <a:ext cx="11871655" cy="310896"/>
          </a:xfrm>
          <a:prstGeom prst="rect">
            <a:avLst/>
          </a:prstGeom>
          <a:solidFill>
            <a:srgbClr val="22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5577840"/>
            <a:ext cx="54864" cy="310896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5660136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유다 왕·총독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5897879"/>
            <a:ext cx="11871655" cy="237744"/>
          </a:xfrm>
          <a:prstGeom prst="rect">
            <a:avLst/>
          </a:prstGeom>
          <a:solidFill>
            <a:srgbClr val="22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5897879"/>
            <a:ext cx="54864" cy="237744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5943599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바벨론 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144767"/>
            <a:ext cx="11871655" cy="420624"/>
          </a:xfrm>
          <a:prstGeom prst="rect">
            <a:avLst/>
          </a:prstGeom>
          <a:solidFill>
            <a:srgbClr val="22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6144767"/>
            <a:ext cx="54864" cy="420624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" y="6281927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선지자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325880" y="960120"/>
            <a:ext cx="10682935" cy="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25880" y="886968"/>
            <a:ext cx="0" cy="5687567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62456" y="1060704"/>
            <a:ext cx="2277093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B0B0B0"/>
                </a:solidFill>
                <a:latin typeface="맑은 고딕"/>
                <a:ea typeface="맑은 고딕"/>
                <a:cs typeface="맑은 고딕"/>
              </a:rPr>
              <a:t>1년 간격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676125" y="886968"/>
            <a:ext cx="0" cy="5687567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12701" y="1060704"/>
            <a:ext cx="1742946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B0B0B0"/>
                </a:solidFill>
                <a:latin typeface="맑은 고딕"/>
                <a:ea typeface="맑은 고딕"/>
                <a:cs typeface="맑은 고딕"/>
              </a:rPr>
              <a:t>포위 기간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92224" y="886968"/>
            <a:ext cx="0" cy="5687567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528800" y="1060704"/>
            <a:ext cx="4734168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B0B0B0"/>
                </a:solidFill>
                <a:latin typeface="맑은 고딕"/>
                <a:ea typeface="맑은 고딕"/>
                <a:cs typeface="맑은 고딕"/>
              </a:rPr>
              <a:t>BC 586년 7–12월 (확대)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299545" y="886968"/>
            <a:ext cx="0" cy="5687567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336121" y="1060704"/>
            <a:ext cx="1636117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B0B0B0"/>
                </a:solidFill>
                <a:latin typeface="맑은 고딕"/>
                <a:ea typeface="맑은 고딕"/>
                <a:cs typeface="맑은 고딕"/>
              </a:rPr>
              <a:t>585–561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472770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98450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605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207222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932902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600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941673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67353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595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676125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401805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590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483280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208960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886858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612538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587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92224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17904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586.7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95278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020958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586.8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098331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24011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586.9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901385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627065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586.10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704439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430119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586.11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507492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233172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586.12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299620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025300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0628311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0353991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580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957003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682683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575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1285694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1011374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570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1614385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1340065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565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1877338" y="960120"/>
            <a:ext cx="0" cy="4544568"/>
          </a:xfrm>
          <a:prstGeom prst="line">
            <a:avLst/>
          </a:prstGeom>
          <a:ln w="5080">
            <a:solidFill>
              <a:srgbClr val="30303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1603018" y="960120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5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561</a:t>
            </a:r>
          </a:p>
        </p:txBody>
      </p:sp>
      <p:sp>
        <p:nvSpPr>
          <p:cNvPr id="89" name="Diamond 88"/>
          <p:cNvSpPr/>
          <p:nvPr/>
        </p:nvSpPr>
        <p:spPr>
          <a:xfrm>
            <a:off x="1492826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533974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122494" y="68580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갈그미스</a:t>
            </a:r>
          </a:p>
        </p:txBody>
      </p:sp>
      <p:sp>
        <p:nvSpPr>
          <p:cNvPr id="92" name="Diamond 91"/>
          <p:cNvSpPr/>
          <p:nvPr/>
        </p:nvSpPr>
        <p:spPr>
          <a:xfrm>
            <a:off x="2637263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2678411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266931" y="786384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함락</a:t>
            </a:r>
          </a:p>
        </p:txBody>
      </p:sp>
      <p:sp>
        <p:nvSpPr>
          <p:cNvPr id="95" name="Diamond 94"/>
          <p:cNvSpPr/>
          <p:nvPr/>
        </p:nvSpPr>
        <p:spPr>
          <a:xfrm>
            <a:off x="4457612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4498760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087280" y="68580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포위</a:t>
            </a:r>
          </a:p>
        </p:txBody>
      </p:sp>
      <p:sp>
        <p:nvSpPr>
          <p:cNvPr id="98" name="Diamond 97"/>
          <p:cNvSpPr/>
          <p:nvPr/>
        </p:nvSpPr>
        <p:spPr>
          <a:xfrm>
            <a:off x="5899906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5941054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529574" y="786384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성벽</a:t>
            </a:r>
          </a:p>
        </p:txBody>
      </p:sp>
      <p:sp>
        <p:nvSpPr>
          <p:cNvPr id="101" name="Diamond 100"/>
          <p:cNvSpPr/>
          <p:nvPr/>
        </p:nvSpPr>
        <p:spPr>
          <a:xfrm>
            <a:off x="6597353" y="918972"/>
            <a:ext cx="82296" cy="82296"/>
          </a:xfrm>
          <a:prstGeom prst="diamond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6638501" y="960120"/>
            <a:ext cx="0" cy="5614415"/>
          </a:xfrm>
          <a:prstGeom prst="line">
            <a:avLst/>
          </a:prstGeom>
          <a:ln w="15875">
            <a:solidFill>
              <a:srgbClr val="FF4D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227021" y="68580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성전 불탐</a:t>
            </a:r>
          </a:p>
        </p:txBody>
      </p:sp>
      <p:sp>
        <p:nvSpPr>
          <p:cNvPr id="104" name="Diamond 103"/>
          <p:cNvSpPr/>
          <p:nvPr/>
        </p:nvSpPr>
        <p:spPr>
          <a:xfrm>
            <a:off x="7913041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7954189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542709" y="786384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그달랴 암살</a:t>
            </a:r>
          </a:p>
        </p:txBody>
      </p:sp>
      <p:sp>
        <p:nvSpPr>
          <p:cNvPr id="107" name="Diamond 106"/>
          <p:cNvSpPr/>
          <p:nvPr/>
        </p:nvSpPr>
        <p:spPr>
          <a:xfrm>
            <a:off x="10455687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10496835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085355" y="68580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3차 포로</a:t>
            </a:r>
          </a:p>
        </p:txBody>
      </p:sp>
      <p:sp>
        <p:nvSpPr>
          <p:cNvPr id="110" name="Diamond 109"/>
          <p:cNvSpPr/>
          <p:nvPr/>
        </p:nvSpPr>
        <p:spPr>
          <a:xfrm>
            <a:off x="11851469" y="918972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1892617" y="960120"/>
            <a:ext cx="0" cy="5614415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1481137" y="786384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석방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527367" y="1188720"/>
            <a:ext cx="41148" cy="3291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527367" y="1225296"/>
            <a:ext cx="22402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갈그미스 전투  ·  605.5~6 · 느부갓네살이 애굽 격파 (왕하 24:7)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73111" y="1302298"/>
            <a:ext cx="41148" cy="3291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73111" y="1338874"/>
            <a:ext cx="19659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느부갓네살 즉위  ·  605.9.7 · 바벨론 왕 (바벨론 연대기)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754310" y="1415876"/>
            <a:ext cx="428430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754310" y="1452452"/>
            <a:ext cx="20574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여호야김 항복·조공  ·  604~601 · 3년 조공 (왕하 24:1)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182740" y="1529454"/>
            <a:ext cx="41148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182740" y="1566030"/>
            <a:ext cx="21945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여호야김의 배반  ·  601.11~12 · 바벨론–애굽 충돌 후 (24:1)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354112" y="1643032"/>
            <a:ext cx="281539" cy="32918"/>
          </a:xfrm>
          <a:prstGeom prst="rect">
            <a:avLst/>
          </a:prstGeom>
          <a:noFill/>
          <a:ln w="9525">
            <a:solidFill>
              <a:srgbClr val="E895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354112" y="1679608"/>
            <a:ext cx="21945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약탈대의 침공  ·  599~598 · 바벨론·아람·모압·암몬 (24:2-4)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38871" y="1756610"/>
            <a:ext cx="41148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638871" y="1793186"/>
            <a:ext cx="256032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여호야김 사망 → 여호야긴  ·  598.12.9경 · 18세 즉위, 3개월 (24:6-9)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78411" y="1870188"/>
            <a:ext cx="41148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78411" y="1906764"/>
            <a:ext cx="233172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여호야긴 항복  ·  597.3.16 · 날짜가 바벨론 연대기에 기록 (24:12)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93067" y="1983766"/>
            <a:ext cx="41148" cy="3291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3067" y="2020342"/>
            <a:ext cx="25146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8. 1차 대규모 포로  ·  597.4.22경 · 여호야긴·1만 명·에스겔 (24:13-16)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93067" y="2097344"/>
            <a:ext cx="3247987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93067" y="2133920"/>
            <a:ext cx="22402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9. 시드기야 통치  ·  597~586 · 21세 즉위, 11년 (24:17-19)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247860" y="2210922"/>
            <a:ext cx="100894" cy="32918"/>
          </a:xfrm>
          <a:prstGeom prst="rect">
            <a:avLst/>
          </a:prstGeom>
          <a:noFill/>
          <a:ln w="9525">
            <a:solidFill>
              <a:srgbClr val="4FA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247860" y="2247498"/>
            <a:ext cx="18288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10. 시드기야의 배반  ·  589경 · 애굽을 의지 (24:20)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498760" y="2324501"/>
            <a:ext cx="1442294" cy="32918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498760" y="2361077"/>
            <a:ext cx="25146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11. 예루살렘 포위  ·  588.1.15 → 586.7.18 · 18개월, 토성 (25:1)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55015" y="2438079"/>
            <a:ext cx="674824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55015" y="2474655"/>
            <a:ext cx="256032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12. 에벳멜렉 구원 약속  ·  포위 중 · '네가 나를 신뢰하였음이라' (렘 39:15-18)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941054" y="2551657"/>
            <a:ext cx="52803" cy="32918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941054" y="2588233"/>
            <a:ext cx="19202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13. 성벽이 뚫림  ·  586.7.18 · 기근 끝에 (25:2-4)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1054" y="2665235"/>
            <a:ext cx="79205" cy="32918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41054" y="2701811"/>
            <a:ext cx="20574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14. 야간 도주  ·  586.7.18 밤 · 두 성벽 사이 문 (25:4)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020259" y="2778813"/>
            <a:ext cx="184812" cy="32918"/>
          </a:xfrm>
          <a:prstGeom prst="rect">
            <a:avLst/>
          </a:prstGeom>
          <a:noFill/>
          <a:ln w="9525">
            <a:solidFill>
              <a:srgbClr val="FF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020259" y="2815389"/>
            <a:ext cx="19202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15. 여리고 평지 생포  ·  7월 하순 · 군대는 흩어짐 (25:5)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205072" y="2892391"/>
            <a:ext cx="275018" cy="32918"/>
          </a:xfrm>
          <a:prstGeom prst="rect">
            <a:avLst/>
          </a:prstGeom>
          <a:noFill/>
          <a:ln w="9525">
            <a:solidFill>
              <a:srgbClr val="FF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05072" y="2928967"/>
            <a:ext cx="22860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16. 립나의 심판  ·  두 눈 뽑힘 → 바벨론 감옥 (25:6-7; 렘 52:11)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638501" y="3005969"/>
            <a:ext cx="79205" cy="32918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38501" y="3042545"/>
            <a:ext cx="27432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17. ★ 성전이 불타던 날  ·  586.8.14 (렘 8.17) · 성전·왕궁·성벽 (25:8-10)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664902" y="3119547"/>
            <a:ext cx="422428" cy="32918"/>
          </a:xfrm>
          <a:prstGeom prst="rect">
            <a:avLst/>
          </a:prstGeom>
          <a:noFill/>
          <a:ln w="9525">
            <a:solidFill>
              <a:srgbClr val="E895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664902" y="3156123"/>
            <a:ext cx="21945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18. 성전 기구 약탈  ·  8월 · 놋기둥·놋바다·놋소 12 (25:13-17)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717706" y="3233125"/>
            <a:ext cx="671044" cy="32918"/>
          </a:xfrm>
          <a:prstGeom prst="rect">
            <a:avLst/>
          </a:prstGeom>
          <a:noFill/>
          <a:ln w="9525">
            <a:solidFill>
              <a:srgbClr val="FF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717706" y="3269701"/>
            <a:ext cx="23774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19. 남은 백성 포로  ·  8월 · 라마 집결 → 바벨론, 832명 (25:11-12)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64902" y="3346704"/>
            <a:ext cx="158410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664902" y="3383280"/>
            <a:ext cx="22402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20. 예레미야 감옥에서 풀림  ·  8월 · 에벳멜렉도 구원 (렘 39:11-14)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928920" y="3460282"/>
            <a:ext cx="195813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928920" y="3496858"/>
            <a:ext cx="210312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21. 라마에서 사슬이 풀림  ·  8월 · 라마 → 미스바 (렘 40:1-6)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796911" y="3573860"/>
            <a:ext cx="407027" cy="32918"/>
          </a:xfrm>
          <a:prstGeom prst="rect">
            <a:avLst/>
          </a:prstGeom>
          <a:noFill/>
          <a:ln w="9525">
            <a:solidFill>
              <a:srgbClr val="FF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96911" y="3610436"/>
            <a:ext cx="20574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22. 지도자들 처형  ·  립나 · '본토에서 떠났더라' (25:18-21)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098331" y="3687438"/>
            <a:ext cx="855857" cy="32918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098331" y="3724014"/>
            <a:ext cx="15544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23. 그달랴 총독  ·  586 · 미스바 (25:22)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203938" y="3801016"/>
            <a:ext cx="528035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203938" y="3837592"/>
            <a:ext cx="20574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24. 지휘관들과 그달랴의 맹세  ·  바벨론 왕을 섬기라 (25:23-24)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098331" y="3914594"/>
            <a:ext cx="803053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098331" y="3951170"/>
            <a:ext cx="21488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25. 흩어진 자들의 귀환·수확  ·  모압·암몬·에돔에서 (렘 40:11-12)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599965" y="4028172"/>
            <a:ext cx="264017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599965" y="4064748"/>
            <a:ext cx="17830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26. 요하난의 경고  ·  바알리스의 음모 (렘 40:13-16)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954189" y="4141750"/>
            <a:ext cx="52803" cy="32918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954189" y="4178326"/>
            <a:ext cx="20574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27. 그달랴 암살  ·  586.10경 식사 중 · 582년설 (25:25)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006992" y="4255328"/>
            <a:ext cx="52803" cy="32918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006992" y="4291904"/>
            <a:ext cx="22402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28. 순례자 80명 학살  ·  다음 날 · 세겜·실로·사마리아 (렘 41:4-9)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059796" y="4368906"/>
            <a:ext cx="79205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059796" y="4405482"/>
            <a:ext cx="15087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29. 이스마엘의 납치  ·  암몬으로 (렘 41:10)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39001" y="4482485"/>
            <a:ext cx="79205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39001" y="4519061"/>
            <a:ext cx="19202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30. 기브온 큰 못 구출  ·  이스마엘은 도주 (렘 41:11-15)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218206" y="4596063"/>
            <a:ext cx="512634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218206" y="4632639"/>
            <a:ext cx="17830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31. 게룻김함에 머묾  ·  베들레헴 근처 (렘 41:16-18)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403018" y="4709641"/>
            <a:ext cx="52803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403018" y="4746217"/>
            <a:ext cx="14630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32. 기도 요청·순종 맹세  ·  (렘 42:1-6)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455822" y="4823219"/>
            <a:ext cx="248616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455822" y="4859795"/>
            <a:ext cx="18288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33. 10일 후의 응답  ·  이 땅에 머물라 (렘 42:7-22)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8730840" y="4936797"/>
            <a:ext cx="776651" cy="32918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730840" y="4973373"/>
            <a:ext cx="228600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34. 말씀 거부, 애굽행  ·  586 말(582설) · 다바네스 (렘 43:1-7)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507492" y="5050375"/>
            <a:ext cx="501633" cy="32918"/>
          </a:xfrm>
          <a:prstGeom prst="rect">
            <a:avLst/>
          </a:prstGeom>
          <a:noFill/>
          <a:ln w="9525">
            <a:solidFill>
              <a:srgbClr val="C78B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507492" y="5086951"/>
            <a:ext cx="146304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35. 다바네스의 돌 예언  ·  (렘 43:8-13)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496835" y="5163953"/>
            <a:ext cx="76694" cy="3291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150370" y="5200529"/>
            <a:ext cx="242316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36. 3차 포로  ·  582/581 · 745명, 합계 4,600 (렘 52:28-30)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1417170" y="5277531"/>
            <a:ext cx="125998" cy="32918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302889" y="5314107"/>
            <a:ext cx="224028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37. 느부갓네살의 애굽 원정  ·  568/567 · 예언 성취 (BM 33041)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1892617" y="5391109"/>
            <a:ext cx="41148" cy="32918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830645" y="5427685"/>
            <a:ext cx="2103120" cy="77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38. 여호야긴 석방  ·  561.3말~4초 · 왕의 식탁 (25:27-30)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325880" y="5623559"/>
            <a:ext cx="1312991" cy="320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344168" y="5660136"/>
            <a:ext cx="8229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여호야김 → 여호야긴(3개월)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638871" y="5623559"/>
            <a:ext cx="39539" cy="320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693067" y="5623559"/>
            <a:ext cx="3247987" cy="320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2711355" y="5660136"/>
            <a:ext cx="27432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시드기야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098331" y="5623559"/>
            <a:ext cx="855857" cy="320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116619" y="5660136"/>
            <a:ext cx="22860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그달랴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693067" y="5756147"/>
            <a:ext cx="9199550" cy="320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711355" y="5792723"/>
            <a:ext cx="5943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여호야긴 포로 37년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573111" y="5943599"/>
            <a:ext cx="10287792" cy="32004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591399" y="5980175"/>
            <a:ext cx="5943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느부갓네살 (43년)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1860904" y="5943599"/>
            <a:ext cx="120520" cy="32004"/>
          </a:xfrm>
          <a:prstGeom prst="rect">
            <a:avLst/>
          </a:prstGeom>
          <a:solidFill>
            <a:srgbClr val="E89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1688775" y="5980175"/>
            <a:ext cx="32004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E8955F"/>
                </a:solidFill>
                <a:latin typeface="맑은 고딕"/>
                <a:ea typeface="맑은 고딕"/>
                <a:cs typeface="맑은 고딕"/>
              </a:rPr>
              <a:t>에윌므로닥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325880" y="6190487"/>
            <a:ext cx="9170955" cy="32004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344168" y="6227063"/>
            <a:ext cx="5943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예레미야 (627~)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308899" y="6323075"/>
            <a:ext cx="7911056" cy="32004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327187" y="6359651"/>
            <a:ext cx="68580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에스겔 (593–571)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1558456" y="6455663"/>
            <a:ext cx="10450358" cy="32004"/>
          </a:xfrm>
          <a:prstGeom prst="rect">
            <a:avLst/>
          </a:prstGeom>
          <a:solidFill>
            <a:srgbClr val="C78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576744" y="6492239"/>
            <a:ext cx="68580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C78BE8"/>
                </a:solidFill>
                <a:latin typeface="맑은 고딕"/>
                <a:ea typeface="맑은 고딕"/>
                <a:cs typeface="맑은 고딕"/>
              </a:rPr>
              <a:t>다니엘 (605–536)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706581" y="3200400"/>
            <a:ext cx="38404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10/18 설교 본문 (왕하 25:1-12, 21) — 성전이 불타던 날 ▶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706581" y="3364991"/>
            <a:ext cx="38404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빨간 글씨 = 본문 사건 (11, 13–17, 19, 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