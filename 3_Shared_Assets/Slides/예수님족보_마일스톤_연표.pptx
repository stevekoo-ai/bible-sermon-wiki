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" y="109728"/>
            <a:ext cx="5120640" cy="384048"/>
          </a:xfrm>
          <a:prstGeom prst="roundRect">
            <a:avLst/>
          </a:prstGeom>
          <a:solidFill>
            <a:srgbClr val="8B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4937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그리스도의 족보 — 마태복음 1:1-17 (3 × 14대)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32120" y="146304"/>
            <a:ext cx="6492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네모: 왼쪽 변 = 시작, 오른쪽 변 = 끝 · 왕은 재위 기간, 그 외는 생애 · 점선 = 연대 추정(성경에 연대 기록 없음)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329184"/>
            <a:ext cx="6492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✅ 선한 왕  ❌ 악한 왕  👩 마태가 넣은 여인 · 연대: 보수적 주류 연대기 근사값(출애굽 1446 · 다윗 즉위 1010 · 분열 931)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914400"/>
            <a:ext cx="11871655" cy="1908047"/>
          </a:xfrm>
          <a:prstGeom prst="rect">
            <a:avLst/>
          </a:prstGeom>
          <a:solidFill>
            <a:srgbClr val="2A2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914400"/>
            <a:ext cx="64008" cy="1908047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95097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2C14E"/>
                </a:solidFill>
                <a:latin typeface="맑은 고딕"/>
                <a:ea typeface="맑은 고딕"/>
                <a:cs typeface="맑은 고딕"/>
              </a:rPr>
              <a:t>1기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1188720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F2C14E"/>
                </a:solidFill>
                <a:latin typeface="맑은 고딕"/>
                <a:ea typeface="맑은 고딕"/>
                <a:cs typeface="맑은 고딕"/>
              </a:rPr>
              <a:t>약속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135331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아브라함 → 다윗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" y="2804160"/>
            <a:ext cx="11871655" cy="1908047"/>
          </a:xfrm>
          <a:prstGeom prst="rect">
            <a:avLst/>
          </a:prstGeom>
          <a:solidFill>
            <a:srgbClr val="16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82880" y="2804160"/>
            <a:ext cx="64008" cy="1908047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284073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2기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3078479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4FA3E0"/>
                </a:solidFill>
                <a:latin typeface="맑은 고딕"/>
                <a:ea typeface="맑은 고딕"/>
                <a:cs typeface="맑은 고딕"/>
              </a:rPr>
              <a:t>왕국과 몰락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324307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다윗 → 바벨론 포로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4693920"/>
            <a:ext cx="11871655" cy="1908047"/>
          </a:xfrm>
          <a:prstGeom prst="rect">
            <a:avLst/>
          </a:prstGeom>
          <a:solidFill>
            <a:srgbClr val="172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4693920"/>
            <a:ext cx="64008" cy="1908047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4730496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3기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" y="4968239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5CC98A"/>
                </a:solidFill>
                <a:latin typeface="맑은 고딕"/>
                <a:ea typeface="맑은 고딕"/>
                <a:cs typeface="맑은 고딕"/>
              </a:rPr>
              <a:t>회복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5132832"/>
            <a:ext cx="91440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포로 → 그리스도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34440" y="786384"/>
            <a:ext cx="10774375" cy="0"/>
          </a:xfrm>
          <a:prstGeom prst="line">
            <a:avLst/>
          </a:prstGeom>
          <a:ln w="9525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34440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0120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2200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15438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196437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22117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2000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77436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158435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884115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1800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639434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120433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46113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1600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601432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082431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808111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1400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563430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44428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70108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1200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525427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006426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732106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1000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487425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968424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694104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800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449423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30422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656102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600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411421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892420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618100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400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0373418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854417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580097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 200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335416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1816415" y="786384"/>
            <a:ext cx="0" cy="5815584"/>
          </a:xfrm>
          <a:prstGeom prst="line">
            <a:avLst/>
          </a:prstGeom>
          <a:ln w="5080">
            <a:solidFill>
              <a:srgbClr val="2E2E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542095" y="804672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9A9A9A"/>
                </a:solidFill>
                <a:latin typeface="맑은 고딕"/>
                <a:ea typeface="맑은 고딕"/>
                <a:cs typeface="맑은 고딕"/>
              </a:rPr>
              <a:t>BC/AD</a:t>
            </a:r>
          </a:p>
        </p:txBody>
      </p:sp>
      <p:sp>
        <p:nvSpPr>
          <p:cNvPr id="57" name="Diamond 56"/>
          <p:cNvSpPr/>
          <p:nvPr/>
        </p:nvSpPr>
        <p:spPr>
          <a:xfrm>
            <a:off x="1717580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1758728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1347248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부르심 2091</a:t>
            </a:r>
          </a:p>
        </p:txBody>
      </p:sp>
      <p:sp>
        <p:nvSpPr>
          <p:cNvPr id="60" name="Diamond 59"/>
          <p:cNvSpPr/>
          <p:nvPr/>
        </p:nvSpPr>
        <p:spPr>
          <a:xfrm>
            <a:off x="275172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2792876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381396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애굽 이주 1876</a:t>
            </a:r>
          </a:p>
        </p:txBody>
      </p:sp>
      <p:sp>
        <p:nvSpPr>
          <p:cNvPr id="63" name="Diamond 62"/>
          <p:cNvSpPr/>
          <p:nvPr/>
        </p:nvSpPr>
        <p:spPr>
          <a:xfrm>
            <a:off x="482002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4861171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49691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출애굽 1446</a:t>
            </a:r>
          </a:p>
        </p:txBody>
      </p:sp>
      <p:sp>
        <p:nvSpPr>
          <p:cNvPr id="66" name="Diamond 65"/>
          <p:cNvSpPr/>
          <p:nvPr/>
        </p:nvSpPr>
        <p:spPr>
          <a:xfrm>
            <a:off x="501242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053571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642091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가나안 1406</a:t>
            </a:r>
          </a:p>
        </p:txBody>
      </p:sp>
      <p:sp>
        <p:nvSpPr>
          <p:cNvPr id="69" name="Diamond 68"/>
          <p:cNvSpPr/>
          <p:nvPr/>
        </p:nvSpPr>
        <p:spPr>
          <a:xfrm>
            <a:off x="691717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6958326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6546846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다윗 즉위 1010</a:t>
            </a:r>
          </a:p>
        </p:txBody>
      </p:sp>
      <p:sp>
        <p:nvSpPr>
          <p:cNvPr id="72" name="Diamond 71"/>
          <p:cNvSpPr/>
          <p:nvPr/>
        </p:nvSpPr>
        <p:spPr>
          <a:xfrm>
            <a:off x="7162488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7203636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792156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완공 959</a:t>
            </a:r>
          </a:p>
        </p:txBody>
      </p:sp>
      <p:sp>
        <p:nvSpPr>
          <p:cNvPr id="75" name="Diamond 74"/>
          <p:cNvSpPr/>
          <p:nvPr/>
        </p:nvSpPr>
        <p:spPr>
          <a:xfrm>
            <a:off x="7297167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7338315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926835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분열 931</a:t>
            </a:r>
          </a:p>
        </p:txBody>
      </p:sp>
      <p:sp>
        <p:nvSpPr>
          <p:cNvPr id="78" name="Diamond 77"/>
          <p:cNvSpPr/>
          <p:nvPr/>
        </p:nvSpPr>
        <p:spPr>
          <a:xfrm>
            <a:off x="8302455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8343603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932123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북 멸망 722</a:t>
            </a:r>
          </a:p>
        </p:txBody>
      </p:sp>
      <p:sp>
        <p:nvSpPr>
          <p:cNvPr id="81" name="Diamond 80"/>
          <p:cNvSpPr/>
          <p:nvPr/>
        </p:nvSpPr>
        <p:spPr>
          <a:xfrm>
            <a:off x="8956614" y="745236"/>
            <a:ext cx="82296" cy="82296"/>
          </a:xfrm>
          <a:prstGeom prst="diamond">
            <a:avLst/>
          </a:prstGeom>
          <a:solidFill>
            <a:srgbClr val="FF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8997762" y="786384"/>
            <a:ext cx="0" cy="5815584"/>
          </a:xfrm>
          <a:prstGeom prst="line">
            <a:avLst/>
          </a:prstGeom>
          <a:ln w="15875">
            <a:solidFill>
              <a:srgbClr val="FF4D4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8586282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성전 불탐 586</a:t>
            </a:r>
          </a:p>
        </p:txBody>
      </p:sp>
      <p:sp>
        <p:nvSpPr>
          <p:cNvPr id="84" name="Diamond 83"/>
          <p:cNvSpPr/>
          <p:nvPr/>
        </p:nvSpPr>
        <p:spPr>
          <a:xfrm>
            <a:off x="918749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5" name="Connector 84"/>
          <p:cNvCxnSpPr/>
          <p:nvPr/>
        </p:nvCxnSpPr>
        <p:spPr>
          <a:xfrm>
            <a:off x="9228641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817161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귀환 538</a:t>
            </a:r>
          </a:p>
        </p:txBody>
      </p:sp>
      <p:sp>
        <p:nvSpPr>
          <p:cNvPr id="87" name="Diamond 86"/>
          <p:cNvSpPr/>
          <p:nvPr/>
        </p:nvSpPr>
        <p:spPr>
          <a:xfrm>
            <a:off x="9293313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9334461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8922981" y="585216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재건 516</a:t>
            </a:r>
          </a:p>
        </p:txBody>
      </p:sp>
      <p:sp>
        <p:nvSpPr>
          <p:cNvPr id="90" name="Diamond 89"/>
          <p:cNvSpPr/>
          <p:nvPr/>
        </p:nvSpPr>
        <p:spPr>
          <a:xfrm>
            <a:off x="10986429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11027577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0616097" y="667512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성전 정화 164</a:t>
            </a:r>
          </a:p>
        </p:txBody>
      </p:sp>
      <p:sp>
        <p:nvSpPr>
          <p:cNvPr id="93" name="Diamond 92"/>
          <p:cNvSpPr/>
          <p:nvPr/>
        </p:nvSpPr>
        <p:spPr>
          <a:xfrm>
            <a:off x="11751217" y="745236"/>
            <a:ext cx="82296" cy="82296"/>
          </a:xfrm>
          <a:prstGeom prst="diamond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11792365" y="786384"/>
            <a:ext cx="0" cy="5815584"/>
          </a:xfrm>
          <a:prstGeom prst="line">
            <a:avLst/>
          </a:prstGeom>
          <a:ln w="508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1380885" y="5029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6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탄생 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397979" y="932688"/>
            <a:ext cx="841748" cy="384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97979" y="974750"/>
            <a:ext cx="2183587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아브라함  ·  2166–1991 · 부르심(2091) · 횃불 언약(창 15)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78978" y="1067670"/>
            <a:ext cx="865798" cy="384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878978" y="1109733"/>
            <a:ext cx="1613001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이삭  ·  2066–1886 · 모리아산 번제(창 22)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167577" y="1202653"/>
            <a:ext cx="707068" cy="384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167577" y="1244716"/>
            <a:ext cx="1945843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야곱  ·  2006–1859 · '이스라엘' · 애굽 이주(1876)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600476" y="1337636"/>
            <a:ext cx="557958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600476" y="1379698"/>
            <a:ext cx="1945843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유다 👩다말  ·  약 1916– · 다말(창 38) — 족보 첫 여인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73636" y="1472619"/>
            <a:ext cx="480998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773636" y="1514681"/>
            <a:ext cx="1708099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베레스  ·  약 1880– · 다말의 쌍둥이(창 38:29)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869836" y="1607602"/>
            <a:ext cx="480998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869836" y="1649664"/>
            <a:ext cx="12801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헤스론  ·  애굽 이주 명단(창 46:12)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350835" y="1742585"/>
            <a:ext cx="961997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350835" y="1784647"/>
            <a:ext cx="1565452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람  ·  애굽 체류기 · 400년 종살이 (연대 불명)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457132" y="1877568"/>
            <a:ext cx="38479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457132" y="1919630"/>
            <a:ext cx="1755648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아미나답  ·  약 1500 · 딸이 아론의 아내(출 6:23)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49532" y="2012550"/>
            <a:ext cx="39922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49532" y="2054613"/>
            <a:ext cx="1708099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나손  ·  출애굽(1446) · 유다 지파 족장(민 1:7)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890031" y="2147533"/>
            <a:ext cx="38479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890031" y="2189596"/>
            <a:ext cx="1422806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살몬 👩라합  ·  가나안 입성(1406) · 라합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828" y="2282516"/>
            <a:ext cx="38479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236828" y="2324578"/>
            <a:ext cx="166055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보아스 👩룻  ·  사사 시대 · 모압 여인 룻(룻 2–4)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29228" y="2417499"/>
            <a:ext cx="38479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429228" y="2459561"/>
            <a:ext cx="1185062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오벳  ·  나오미의 품에서(룻 4:17)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525427" y="2552482"/>
            <a:ext cx="432899" cy="38404"/>
          </a:xfrm>
          <a:prstGeom prst="rect">
            <a:avLst/>
          </a:prstGeom>
          <a:noFill/>
          <a:ln w="9525">
            <a:solidFill>
              <a:srgbClr val="F2C14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25427" y="2594544"/>
            <a:ext cx="1089964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이새  ·  베들레헴 사람(삼상 16)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14027" y="2687465"/>
            <a:ext cx="336699" cy="3840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814027" y="2729527"/>
            <a:ext cx="1945843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다윗  ·  1040–970 · 즉위 1010 · 다윗 언약(삼하 7)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150726" y="2822448"/>
            <a:ext cx="18758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150726" y="2864510"/>
            <a:ext cx="1803196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솔로몬 👩밧세바  ·  재위 970–931 · 성전 완공(959)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338315" y="2957430"/>
            <a:ext cx="8657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38315" y="2999493"/>
            <a:ext cx="1565452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르호보암 ❌  ·  931–913 · 왕국 분열(931)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424895" y="3092413"/>
            <a:ext cx="45720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424895" y="3134476"/>
            <a:ext cx="899769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아비야 ❌  ·  913–911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7434515" y="3227396"/>
            <a:ext cx="19720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434515" y="3269458"/>
            <a:ext cx="1375257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아사 ✅  ·  911–870 · 우상 제거 개혁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617295" y="3362379"/>
            <a:ext cx="12024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17295" y="3404441"/>
            <a:ext cx="166055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여호사밧 ✅  ·  873–848 · 아합 집안과 혼인 동맹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713495" y="3497362"/>
            <a:ext cx="5771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713495" y="3539424"/>
            <a:ext cx="2516428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요람 ❌  ·  853–841 · 아달랴와 결혼 (이후 3왕 생략: 아하시야·요아스·아마샤)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006904" y="3632345"/>
            <a:ext cx="25011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006904" y="3674407"/>
            <a:ext cx="1708099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웃시야 ✅  ·  792–740 · 그가 죽던 해 이사야 소명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208923" y="3767327"/>
            <a:ext cx="8657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208923" y="3809390"/>
            <a:ext cx="85222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요담 ✅  ·  750–732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281073" y="3902310"/>
            <a:ext cx="9619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281073" y="3944373"/>
            <a:ext cx="1898294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아하스 ❌  ·  735–715 · 재위 중 북이스라엘 멸망(722)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377273" y="4037293"/>
            <a:ext cx="13948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377273" y="4079356"/>
            <a:ext cx="1803196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히스기야 ✅  ·  715–686 · 산헤립 포위와 구원(701)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463853" y="4172276"/>
            <a:ext cx="26454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463853" y="4214338"/>
            <a:ext cx="1708099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므낫세 ❌  ·  697–642 · 성전에 우상, 멸망의 원인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728402" y="4307259"/>
            <a:ext cx="45720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728402" y="4349321"/>
            <a:ext cx="85222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아몬 ❌  ·  642–640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738022" y="4442242"/>
            <a:ext cx="14910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738022" y="4484304"/>
            <a:ext cx="2659075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요시야 ✅  ·  640–609 · 율법책 발견·대개혁(622) (이후 여호아하스·여호야김 생략)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940042" y="4577225"/>
            <a:ext cx="57719" cy="38404"/>
          </a:xfrm>
          <a:prstGeom prst="rect">
            <a:avLst/>
          </a:prstGeom>
          <a:solidFill>
            <a:srgbClr val="4FA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940042" y="4619287"/>
            <a:ext cx="284927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여고냐와 형제들 ❌  ·  598–597 재위 · 포로(597) · 형제 시드기야 때 성전 불탐(586)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8944852" y="4712207"/>
            <a:ext cx="173159" cy="38404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944852" y="4754270"/>
            <a:ext cx="204094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여고냐  ·  포로 597 → 석방 561 · 왕의 식탁(왕하 25:27)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954472" y="4847190"/>
            <a:ext cx="31264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8954472" y="4889253"/>
            <a:ext cx="1327708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스알디엘  ·  바벨론에서 출생(대상 3:17)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074721" y="4982173"/>
            <a:ext cx="3366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074721" y="5024236"/>
            <a:ext cx="2136038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스룹바벨  ·  귀환 538 · 성전 재건 516 · 인장 반지(학 2:23)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267121" y="5117156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267121" y="5159218"/>
            <a:ext cx="1850745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아비훗  ·  ↓ 여기서부터 요셉까지 구약 기록 없음 (연대 추정)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507620" y="5252139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507620" y="5294201"/>
            <a:ext cx="1755648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엘리아김  ·  페르시아 시대 · 에스더·에스라·느헤미야·말라기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748120" y="5387122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748120" y="5429184"/>
            <a:ext cx="128016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아소르  ·  말라기 이후 '침묵의 400년'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9988619" y="5522105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988619" y="5564167"/>
            <a:ext cx="994867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사독  ·  알렉산더 대왕(333)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229119" y="5657087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229119" y="5699150"/>
            <a:ext cx="662025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아킴  ·  헬라 시대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0469618" y="5792070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469618" y="5834133"/>
            <a:ext cx="804671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엘리웃  ·  프톨레미 지배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710118" y="5927053"/>
            <a:ext cx="3366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148523" y="5969116"/>
            <a:ext cx="1898294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엘르아살  ·  셀류시드 · 성전 모독(167)·마카비 정화(164)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998717" y="6062036"/>
            <a:ext cx="3366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998717" y="6104098"/>
            <a:ext cx="709574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맛단  ·  하스몬 왕조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287316" y="6197019"/>
            <a:ext cx="3366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771795" y="6239081"/>
            <a:ext cx="852220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야곱  ·  로마 점령(63)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1575916" y="6332002"/>
            <a:ext cx="288599" cy="38404"/>
          </a:xfrm>
          <a:prstGeom prst="rect">
            <a:avLst/>
          </a:prstGeom>
          <a:noFill/>
          <a:ln w="9525">
            <a:solidFill>
              <a:srgbClr val="5CC9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871123" y="6374064"/>
            <a:ext cx="1993392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요셉 👩마리아  ·  헤롯 대왕(37–4) · 다윗의 자손(마 1:20)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1792365" y="6466985"/>
            <a:ext cx="168349" cy="38404"/>
          </a:xfrm>
          <a:prstGeom prst="rect">
            <a:avLst/>
          </a:prstGeom>
          <a:solidFill>
            <a:srgbClr val="5C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9967323" y="6509047"/>
            <a:ext cx="1993392" cy="822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5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예수 그리스도  ·  탄생 약 BC 6–4 · 십자가 약 AD 30–33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248722" y="5117156"/>
            <a:ext cx="36576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10/18 설교 본문 (왕하 25) — 성전이 불탄 날 ▶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248722" y="5263460"/>
            <a:ext cx="3657600" cy="1280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600" b="0">
                <a:solidFill>
                  <a:srgbClr val="FF4D4D"/>
                </a:solidFill>
                <a:latin typeface="맑은 고딕"/>
                <a:ea typeface="맑은 고딕"/>
                <a:cs typeface="맑은 고딕"/>
              </a:rPr>
              <a:t>족보의 두 번째 경첩 '바벨론으로 사로잡혀 갈 때' (마 1:11, 12, 17)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